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28803600" cy="36004500"/>
  <p:notesSz cx="7099300" cy="10234613"/>
  <p:defaultTextStyle>
    <a:defPPr>
      <a:defRPr lang="pt-BR"/>
    </a:defPPr>
    <a:lvl1pPr algn="ctr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0">
          <p15:clr>
            <a:srgbClr val="A4A3A4"/>
          </p15:clr>
        </p15:guide>
        <p15:guide id="2" pos="907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rina" initials="C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D960"/>
    <a:srgbClr val="99FF66"/>
    <a:srgbClr val="99FF99"/>
    <a:srgbClr val="CCFF99"/>
    <a:srgbClr val="4CEE8A"/>
    <a:srgbClr val="00D25F"/>
    <a:srgbClr val="85E77D"/>
    <a:srgbClr val="C0F2C1"/>
    <a:srgbClr val="EEFCEE"/>
    <a:srgbClr val="C7F5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34578" autoAdjust="0"/>
    <p:restoredTop sz="98399" autoAdjust="0"/>
  </p:normalViewPr>
  <p:slideViewPr>
    <p:cSldViewPr>
      <p:cViewPr varScale="1">
        <p:scale>
          <a:sx n="22" d="100"/>
          <a:sy n="22" d="100"/>
        </p:scale>
        <p:origin x="2622" y="36"/>
      </p:cViewPr>
      <p:guideLst>
        <p:guide orient="horz" pos="11340"/>
        <p:guide pos="90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fld id="{93249B93-4F97-4E7A-A695-80F7B34208B9}" type="datetimeFigureOut">
              <a:rPr lang="pt-BR"/>
              <a:pPr>
                <a:defRPr/>
              </a:pPr>
              <a:t>13/10/2014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016125" y="768350"/>
            <a:ext cx="306705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pt-BR" noProof="0" smtClean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pt-BR" noProof="0" smtClean="0"/>
              <a:t>Clique para editar os estilos do texto mestre</a:t>
            </a:r>
          </a:p>
          <a:p>
            <a:pPr lvl="1"/>
            <a:r>
              <a:rPr lang="pt-BR" noProof="0" smtClean="0"/>
              <a:t>Segundo nível</a:t>
            </a:r>
          </a:p>
          <a:p>
            <a:pPr lvl="2"/>
            <a:r>
              <a:rPr lang="pt-BR" noProof="0" smtClean="0"/>
              <a:t>Terceiro nível</a:t>
            </a:r>
          </a:p>
          <a:p>
            <a:pPr lvl="3"/>
            <a:r>
              <a:rPr lang="pt-BR" noProof="0" smtClean="0"/>
              <a:t>Quarto nível</a:t>
            </a:r>
          </a:p>
          <a:p>
            <a:pPr lvl="4"/>
            <a:r>
              <a:rPr lang="pt-BR" noProof="0" smtClean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fld id="{FDA137D9-B1E5-4F21-811E-B6C54CFF5CE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06340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4100" name="Espaço Reservado para Número de Slide 3"/>
          <p:cNvSpPr txBox="1">
            <a:spLocks noGrp="1"/>
          </p:cNvSpPr>
          <p:nvPr/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9048" tIns="49524" rIns="99048" bIns="49524" anchor="b"/>
          <a:lstStyle/>
          <a:p>
            <a:pPr algn="r"/>
            <a:fld id="{8395600D-8EAE-463F-BF08-AFE15723887A}" type="slidenum">
              <a:rPr lang="pt-BR" sz="1300"/>
              <a:pPr algn="r"/>
              <a:t>1</a:t>
            </a:fld>
            <a:endParaRPr lang="pt-BR" sz="1300"/>
          </a:p>
        </p:txBody>
      </p:sp>
    </p:spTree>
    <p:extLst>
      <p:ext uri="{BB962C8B-B14F-4D97-AF65-F5344CB8AC3E}">
        <p14:creationId xmlns:p14="http://schemas.microsoft.com/office/powerpoint/2010/main" val="3920954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60588" y="11185525"/>
            <a:ext cx="24482425" cy="7716838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321175" y="20402550"/>
            <a:ext cx="20161250" cy="92011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1F261F-C017-47EC-AD20-91A66063EB7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863" y="1441450"/>
            <a:ext cx="25923875" cy="600075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A59057-6F88-4720-9547-D556DB580F2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4888" y="23136225"/>
            <a:ext cx="24484012" cy="7151688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74888" y="15260638"/>
            <a:ext cx="24484012" cy="78755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8AE13B-DF51-4502-9F03-628A392BC25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863" y="1441450"/>
            <a:ext cx="25923875" cy="600075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612900" y="8401050"/>
            <a:ext cx="12625388" cy="23702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390688" y="8401050"/>
            <a:ext cx="12626975" cy="23702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E03A6A-FD78-4B07-B040-74D04EE261C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863" y="1441450"/>
            <a:ext cx="25923875" cy="60007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39863" y="8059738"/>
            <a:ext cx="12726987" cy="33591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39863" y="11418888"/>
            <a:ext cx="12726987" cy="207438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4631988" y="8059738"/>
            <a:ext cx="12731750" cy="33591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4631988" y="11418888"/>
            <a:ext cx="12731750" cy="207438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D0E7E3-7CAC-470A-85A1-64DD1E45921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863" y="1441450"/>
            <a:ext cx="25923875" cy="600075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60245D-CF08-4A3D-8F95-889DBEC143B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F77B6B-BC39-4D23-A3FE-31019636497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863" y="1433513"/>
            <a:ext cx="9475787" cy="61007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261725" y="1433513"/>
            <a:ext cx="16102013" cy="307292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39863" y="7534275"/>
            <a:ext cx="9475787" cy="246284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FAB86C-BA4C-4A3F-8B24-719B62E3718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45150" y="25203150"/>
            <a:ext cx="17283113" cy="29749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645150" y="3217863"/>
            <a:ext cx="17283113" cy="21602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smtClean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645150" y="28178125"/>
            <a:ext cx="17283113" cy="42259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2B5CAE-8890-4F30-B0AF-5A0BB699C4C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863" y="1441450"/>
            <a:ext cx="25923875" cy="600075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CB789B-DA56-4162-8E37-9639686D7DD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0883563" y="1441450"/>
            <a:ext cx="6480175" cy="30662563"/>
          </a:xfrm>
          <a:prstGeom prst="rect">
            <a:avLst/>
          </a:prstGeo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439863" y="1441450"/>
            <a:ext cx="19291300" cy="30662563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16D01A-BA3B-422C-87B5-3C133C36689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225" y="32883475"/>
            <a:ext cx="17397413" cy="250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97407" tIns="198704" rIns="397407" bIns="198704" numCol="1" anchor="t" anchorCtr="0" compatLnSpc="1">
            <a:prstTxWarp prst="textNoShape">
              <a:avLst/>
            </a:prstTxWarp>
          </a:bodyPr>
          <a:lstStyle>
            <a:lvl1pPr>
              <a:defRPr sz="18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2352000" y="33124775"/>
            <a:ext cx="5530850" cy="195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97407" tIns="198704" rIns="397407" bIns="198704" numCol="1" anchor="t" anchorCtr="0" compatLnSpc="1">
            <a:prstTxWarp prst="textNoShape">
              <a:avLst/>
            </a:prstTxWarp>
          </a:bodyPr>
          <a:lstStyle>
            <a:lvl1pPr algn="r">
              <a:defRPr sz="1800">
                <a:latin typeface="Arial" charset="0"/>
              </a:defRPr>
            </a:lvl1pPr>
          </a:lstStyle>
          <a:p>
            <a:pPr>
              <a:defRPr/>
            </a:pPr>
            <a:fld id="{FE046166-0C79-4531-8362-630B9A27353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pic>
        <p:nvPicPr>
          <p:cNvPr id="1028" name="Picture 9" descr="image001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095375" y="420688"/>
            <a:ext cx="4491038" cy="4919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0"/>
          <p:cNvSpPr>
            <a:spLocks noChangeArrowheads="1"/>
          </p:cNvSpPr>
          <p:nvPr userDrawn="1"/>
        </p:nvSpPr>
        <p:spPr bwMode="auto">
          <a:xfrm>
            <a:off x="5186363" y="1500188"/>
            <a:ext cx="17110075" cy="2319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0284" tIns="40142" rIns="80284" bIns="40142">
            <a:spAutoFit/>
          </a:bodyPr>
          <a:lstStyle/>
          <a:p>
            <a:pPr defTabSz="3251200"/>
            <a:r>
              <a:rPr lang="pt-BR" sz="4700" b="1"/>
              <a:t>UNIVERSIDADE FEDERAL DE CAMPINA GRANDE</a:t>
            </a:r>
          </a:p>
          <a:p>
            <a:pPr defTabSz="3251200"/>
            <a:r>
              <a:rPr lang="pt-BR" sz="4700" b="1">
                <a:solidFill>
                  <a:srgbClr val="000066"/>
                </a:solidFill>
                <a:latin typeface="Verdana" pitchFamily="34" charset="0"/>
              </a:rPr>
              <a:t>PRÓ-REITORIA DE PÓS-GRADUAÇÃO E PESQUISA</a:t>
            </a:r>
          </a:p>
          <a:p>
            <a:pPr defTabSz="3251200"/>
            <a:r>
              <a:rPr lang="pt-BR" sz="5300" b="1">
                <a:solidFill>
                  <a:srgbClr val="0000CC"/>
                </a:solidFill>
              </a:rPr>
              <a:t>COORDENAÇÃO DE PESQUISA - PIBIC</a:t>
            </a:r>
          </a:p>
        </p:txBody>
      </p:sp>
      <p:pic>
        <p:nvPicPr>
          <p:cNvPr id="3" name="Picture 11" descr="image002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1718588" y="901700"/>
            <a:ext cx="5808662" cy="407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13"/>
          <p:cNvSpPr>
            <a:spLocks noChangeArrowheads="1"/>
          </p:cNvSpPr>
          <p:nvPr userDrawn="1"/>
        </p:nvSpPr>
        <p:spPr bwMode="auto">
          <a:xfrm>
            <a:off x="1671638" y="6457950"/>
            <a:ext cx="25172987" cy="96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0284" tIns="40142" rIns="80284" bIns="40142" anchor="ctr">
            <a:spAutoFit/>
          </a:bodyPr>
          <a:lstStyle/>
          <a:p>
            <a:pPr defTabSz="803275"/>
            <a:endParaRPr lang="pt-BR" sz="5800" b="1">
              <a:latin typeface="Verdana" pitchFamily="34" charset="0"/>
            </a:endParaRPr>
          </a:p>
        </p:txBody>
      </p:sp>
      <p:sp>
        <p:nvSpPr>
          <p:cNvPr id="1032" name="Text Box 16"/>
          <p:cNvSpPr txBox="1">
            <a:spLocks noChangeArrowheads="1"/>
          </p:cNvSpPr>
          <p:nvPr userDrawn="1"/>
        </p:nvSpPr>
        <p:spPr bwMode="auto">
          <a:xfrm>
            <a:off x="15957550" y="9001125"/>
            <a:ext cx="11515725" cy="2319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0284" tIns="40142" rIns="80284" bIns="40142"/>
          <a:lstStyle>
            <a:lvl1pPr defTabSz="3973513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3973513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3973513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3973513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3973513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3973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3973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3973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3973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hangingPunct="1">
              <a:defRPr/>
            </a:pPr>
            <a:endParaRPr lang="pt-BR" smtClean="0"/>
          </a:p>
        </p:txBody>
      </p:sp>
      <p:sp>
        <p:nvSpPr>
          <p:cNvPr id="1033" name="Rectangle 1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12900" y="8401050"/>
            <a:ext cx="25404763" cy="2370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284" tIns="40142" rIns="80284" bIns="40142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mtClean="0"/>
          </a:p>
        </p:txBody>
      </p:sp>
      <p:sp>
        <p:nvSpPr>
          <p:cNvPr id="1034" name="Rectangle 24"/>
          <p:cNvSpPr>
            <a:spLocks noChangeArrowheads="1"/>
          </p:cNvSpPr>
          <p:nvPr userDrawn="1"/>
        </p:nvSpPr>
        <p:spPr bwMode="auto">
          <a:xfrm>
            <a:off x="0" y="17272000"/>
            <a:ext cx="288036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pt-BR"/>
          </a:p>
        </p:txBody>
      </p:sp>
      <p:graphicFrame>
        <p:nvGraphicFramePr>
          <p:cNvPr id="1035" name="Object 23"/>
          <p:cNvGraphicFramePr>
            <a:graphicFrameLocks noChangeAspect="1"/>
          </p:cNvGraphicFramePr>
          <p:nvPr/>
        </p:nvGraphicFramePr>
        <p:xfrm>
          <a:off x="22323425" y="33124775"/>
          <a:ext cx="4554538" cy="196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r:id="rId16" imgW="4813200" imgH="2072160" progId="">
                  <p:embed/>
                </p:oleObj>
              </mc:Choice>
              <mc:Fallback>
                <p:oleObj r:id="rId16" imgW="4813200" imgH="2072160" progId="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3425" y="33124775"/>
                        <a:ext cx="4554538" cy="1960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3973513" rtl="0" eaLnBrk="0" fontAlgn="base" hangingPunct="0">
        <a:spcBef>
          <a:spcPct val="0"/>
        </a:spcBef>
        <a:spcAft>
          <a:spcPct val="0"/>
        </a:spcAft>
        <a:defRPr sz="191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973513" rtl="0" eaLnBrk="0" fontAlgn="base" hangingPunct="0">
        <a:spcBef>
          <a:spcPct val="0"/>
        </a:spcBef>
        <a:spcAft>
          <a:spcPct val="0"/>
        </a:spcAft>
        <a:defRPr sz="19100">
          <a:solidFill>
            <a:schemeClr val="tx2"/>
          </a:solidFill>
          <a:latin typeface="Arial" charset="0"/>
        </a:defRPr>
      </a:lvl2pPr>
      <a:lvl3pPr algn="ctr" defTabSz="3973513" rtl="0" eaLnBrk="0" fontAlgn="base" hangingPunct="0">
        <a:spcBef>
          <a:spcPct val="0"/>
        </a:spcBef>
        <a:spcAft>
          <a:spcPct val="0"/>
        </a:spcAft>
        <a:defRPr sz="19100">
          <a:solidFill>
            <a:schemeClr val="tx2"/>
          </a:solidFill>
          <a:latin typeface="Arial" charset="0"/>
        </a:defRPr>
      </a:lvl3pPr>
      <a:lvl4pPr algn="ctr" defTabSz="3973513" rtl="0" eaLnBrk="0" fontAlgn="base" hangingPunct="0">
        <a:spcBef>
          <a:spcPct val="0"/>
        </a:spcBef>
        <a:spcAft>
          <a:spcPct val="0"/>
        </a:spcAft>
        <a:defRPr sz="19100">
          <a:solidFill>
            <a:schemeClr val="tx2"/>
          </a:solidFill>
          <a:latin typeface="Arial" charset="0"/>
        </a:defRPr>
      </a:lvl4pPr>
      <a:lvl5pPr algn="ctr" defTabSz="3973513" rtl="0" eaLnBrk="0" fontAlgn="base" hangingPunct="0">
        <a:spcBef>
          <a:spcPct val="0"/>
        </a:spcBef>
        <a:spcAft>
          <a:spcPct val="0"/>
        </a:spcAft>
        <a:defRPr sz="19100">
          <a:solidFill>
            <a:schemeClr val="tx2"/>
          </a:solidFill>
          <a:latin typeface="Arial" charset="0"/>
        </a:defRPr>
      </a:lvl5pPr>
      <a:lvl6pPr marL="457200" algn="ctr" defTabSz="3973513" rtl="0" fontAlgn="base">
        <a:spcBef>
          <a:spcPct val="0"/>
        </a:spcBef>
        <a:spcAft>
          <a:spcPct val="0"/>
        </a:spcAft>
        <a:defRPr sz="19100">
          <a:solidFill>
            <a:schemeClr val="tx2"/>
          </a:solidFill>
          <a:latin typeface="Arial" charset="0"/>
        </a:defRPr>
      </a:lvl6pPr>
      <a:lvl7pPr marL="914400" algn="ctr" defTabSz="3973513" rtl="0" fontAlgn="base">
        <a:spcBef>
          <a:spcPct val="0"/>
        </a:spcBef>
        <a:spcAft>
          <a:spcPct val="0"/>
        </a:spcAft>
        <a:defRPr sz="19100">
          <a:solidFill>
            <a:schemeClr val="tx2"/>
          </a:solidFill>
          <a:latin typeface="Arial" charset="0"/>
        </a:defRPr>
      </a:lvl7pPr>
      <a:lvl8pPr marL="1371600" algn="ctr" defTabSz="3973513" rtl="0" fontAlgn="base">
        <a:spcBef>
          <a:spcPct val="0"/>
        </a:spcBef>
        <a:spcAft>
          <a:spcPct val="0"/>
        </a:spcAft>
        <a:defRPr sz="19100">
          <a:solidFill>
            <a:schemeClr val="tx2"/>
          </a:solidFill>
          <a:latin typeface="Arial" charset="0"/>
        </a:defRPr>
      </a:lvl8pPr>
      <a:lvl9pPr marL="1828800" algn="ctr" defTabSz="3973513" rtl="0" fontAlgn="base">
        <a:spcBef>
          <a:spcPct val="0"/>
        </a:spcBef>
        <a:spcAft>
          <a:spcPct val="0"/>
        </a:spcAft>
        <a:defRPr sz="19100">
          <a:solidFill>
            <a:schemeClr val="tx2"/>
          </a:solidFill>
          <a:latin typeface="Arial" charset="0"/>
        </a:defRPr>
      </a:lvl9pPr>
    </p:titleStyle>
    <p:bodyStyle>
      <a:lvl1pPr marL="1490663" indent="-1490663" algn="l" defTabSz="3973513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3228975" indent="-1241425" algn="l" defTabSz="3973513" rtl="0" eaLnBrk="0" fontAlgn="base" hangingPunct="0">
        <a:spcBef>
          <a:spcPct val="20000"/>
        </a:spcBef>
        <a:spcAft>
          <a:spcPct val="0"/>
        </a:spcAft>
        <a:buChar char="–"/>
        <a:defRPr sz="12200">
          <a:solidFill>
            <a:schemeClr val="tx1"/>
          </a:solidFill>
          <a:latin typeface="+mn-lt"/>
        </a:defRPr>
      </a:lvl2pPr>
      <a:lvl3pPr marL="4967288" indent="-993775" algn="l" defTabSz="3973513" rtl="0" eaLnBrk="0" fontAlgn="base" hangingPunct="0">
        <a:spcBef>
          <a:spcPct val="20000"/>
        </a:spcBef>
        <a:spcAft>
          <a:spcPct val="0"/>
        </a:spcAft>
        <a:buChar char="•"/>
        <a:defRPr sz="10400">
          <a:solidFill>
            <a:schemeClr val="tx1"/>
          </a:solidFill>
          <a:latin typeface="+mn-lt"/>
        </a:defRPr>
      </a:lvl3pPr>
      <a:lvl4pPr marL="6954838" indent="-993775" algn="l" defTabSz="3973513" rtl="0" eaLnBrk="0" fontAlgn="base" hangingPunct="0">
        <a:spcBef>
          <a:spcPct val="20000"/>
        </a:spcBef>
        <a:spcAft>
          <a:spcPct val="0"/>
        </a:spcAft>
        <a:buChar char="–"/>
        <a:defRPr sz="8700">
          <a:solidFill>
            <a:schemeClr val="tx1"/>
          </a:solidFill>
          <a:latin typeface="+mn-lt"/>
        </a:defRPr>
      </a:lvl4pPr>
      <a:lvl5pPr marL="8940800" indent="-993775" algn="l" defTabSz="3973513" rtl="0" eaLnBrk="0" fontAlgn="base" hangingPunct="0">
        <a:spcBef>
          <a:spcPct val="20000"/>
        </a:spcBef>
        <a:spcAft>
          <a:spcPct val="0"/>
        </a:spcAft>
        <a:buChar char="»"/>
        <a:defRPr sz="8700">
          <a:solidFill>
            <a:schemeClr val="tx1"/>
          </a:solidFill>
          <a:latin typeface="+mn-lt"/>
        </a:defRPr>
      </a:lvl5pPr>
      <a:lvl6pPr marL="9398000" indent="-993775" algn="l" defTabSz="3973513" rtl="0" fontAlgn="base">
        <a:spcBef>
          <a:spcPct val="20000"/>
        </a:spcBef>
        <a:spcAft>
          <a:spcPct val="0"/>
        </a:spcAft>
        <a:buChar char="»"/>
        <a:defRPr sz="8700">
          <a:solidFill>
            <a:schemeClr val="tx1"/>
          </a:solidFill>
          <a:latin typeface="+mn-lt"/>
        </a:defRPr>
      </a:lvl6pPr>
      <a:lvl7pPr marL="9855200" indent="-993775" algn="l" defTabSz="3973513" rtl="0" fontAlgn="base">
        <a:spcBef>
          <a:spcPct val="20000"/>
        </a:spcBef>
        <a:spcAft>
          <a:spcPct val="0"/>
        </a:spcAft>
        <a:buChar char="»"/>
        <a:defRPr sz="8700">
          <a:solidFill>
            <a:schemeClr val="tx1"/>
          </a:solidFill>
          <a:latin typeface="+mn-lt"/>
        </a:defRPr>
      </a:lvl7pPr>
      <a:lvl8pPr marL="10312400" indent="-993775" algn="l" defTabSz="3973513" rtl="0" fontAlgn="base">
        <a:spcBef>
          <a:spcPct val="20000"/>
        </a:spcBef>
        <a:spcAft>
          <a:spcPct val="0"/>
        </a:spcAft>
        <a:buChar char="»"/>
        <a:defRPr sz="8700">
          <a:solidFill>
            <a:schemeClr val="tx1"/>
          </a:solidFill>
          <a:latin typeface="+mn-lt"/>
        </a:defRPr>
      </a:lvl8pPr>
      <a:lvl9pPr marL="10769600" indent="-993775" algn="l" defTabSz="3973513" rtl="0" fontAlgn="base">
        <a:spcBef>
          <a:spcPct val="20000"/>
        </a:spcBef>
        <a:spcAft>
          <a:spcPct val="0"/>
        </a:spcAft>
        <a:buChar char="»"/>
        <a:defRPr sz="87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4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jpeg"/><Relationship Id="rId4" Type="http://schemas.openxmlformats.org/officeDocument/2006/relationships/hyperlink" Target="mailto:vera.lucia.ufcg@gmail.com" TargetMode="External"/><Relationship Id="rId9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 bwMode="auto">
          <a:xfrm>
            <a:off x="0" y="0"/>
            <a:ext cx="28803600" cy="986534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rgbClr val="EEFCE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39735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100" b="0" i="0" u="none" strike="noStrike" cap="none" normalizeH="0" baseline="0" smtClean="0">
              <a:ln>
                <a:noFill/>
              </a:ln>
              <a:solidFill>
                <a:schemeClr val="accent1">
                  <a:lumMod val="25000"/>
                </a:schemeClr>
              </a:solidFill>
              <a:effectLst/>
              <a:latin typeface="Arial" charset="0"/>
            </a:endParaRPr>
          </a:p>
        </p:txBody>
      </p:sp>
      <p:sp>
        <p:nvSpPr>
          <p:cNvPr id="2050" name="Rectangle 15"/>
          <p:cNvSpPr>
            <a:spLocks noChangeArrowheads="1"/>
          </p:cNvSpPr>
          <p:nvPr/>
        </p:nvSpPr>
        <p:spPr bwMode="auto">
          <a:xfrm>
            <a:off x="1835551" y="6783750"/>
            <a:ext cx="25574625" cy="103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0284" tIns="40142" rIns="80284" bIns="40142" anchor="ctr">
            <a:spAutoFit/>
          </a:bodyPr>
          <a:lstStyle/>
          <a:p>
            <a:r>
              <a:rPr lang="pt-BR" sz="3200" u="sng" dirty="0"/>
              <a:t>Vera Lúcia da Silva</a:t>
            </a:r>
            <a:r>
              <a:rPr lang="pt-BR" sz="3200" dirty="0"/>
              <a:t>¹, Tainá Martins Costa Ferreira Silva¹, Marília Ferreira Frazão Tavares de Melo</a:t>
            </a:r>
            <a:r>
              <a:rPr lang="pt-BR" sz="3200" baseline="30000" dirty="0"/>
              <a:t>2</a:t>
            </a:r>
            <a:endParaRPr lang="pt-BR" sz="3200" dirty="0"/>
          </a:p>
          <a:p>
            <a:endParaRPr lang="pt-BR" sz="3000" b="1" dirty="0"/>
          </a:p>
        </p:txBody>
      </p:sp>
      <p:sp>
        <p:nvSpPr>
          <p:cNvPr id="2051" name="Text Box 26"/>
          <p:cNvSpPr txBox="1">
            <a:spLocks noChangeArrowheads="1"/>
          </p:cNvSpPr>
          <p:nvPr/>
        </p:nvSpPr>
        <p:spPr bwMode="auto">
          <a:xfrm>
            <a:off x="1297505" y="11380829"/>
            <a:ext cx="12564227" cy="713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284" tIns="40142" rIns="80284" bIns="40142"/>
          <a:lstStyle>
            <a:lvl1pPr indent="5334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just" eaLnBrk="1" hangingPunct="1">
              <a:defRPr/>
            </a:pPr>
            <a:r>
              <a:rPr lang="pt-BR" sz="3600" dirty="0">
                <a:latin typeface="+mj-lt"/>
              </a:rPr>
              <a:t>Adolescência é definida como o período de transição entre a infância e a vida adulta, compreendida Segundo a Organização Mundial de Saúde (OMS), dos 10 aos 19 anos. Esta fase caracteriza-se por diversas modificações físicas, comportamentais e psicossociais, sendo marcada por transformações relacionadas à percepção da autoimagem e desenvolvimento corporal. A diversidade e a intensidade dessas mudanças podem influenciar nos hábitos alimentares e outros comportamentos que repercutem sobre a saúde e bem-estar, causando distúrbios como obesidade, anorexia, bulimia ou vigorexia. OBJETIVO: Este trabalho objetiva-se em relatar acerca dos principais distúrbios nutricionais e de autoimagem da adolescência, bem como reunir informações sobre a assistência da nutrição frente a tais condições patológicas.</a:t>
            </a:r>
            <a:endParaRPr lang="pt-BR" sz="3600" dirty="0" smtClean="0">
              <a:latin typeface="+mj-lt"/>
            </a:endParaRPr>
          </a:p>
        </p:txBody>
      </p:sp>
      <p:sp>
        <p:nvSpPr>
          <p:cNvPr id="2052" name="Rectangle 27"/>
          <p:cNvSpPr>
            <a:spLocks noChangeArrowheads="1"/>
          </p:cNvSpPr>
          <p:nvPr/>
        </p:nvSpPr>
        <p:spPr bwMode="auto">
          <a:xfrm>
            <a:off x="1404938" y="10315725"/>
            <a:ext cx="3779838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0284" tIns="40142" rIns="80284" bIns="40142" anchor="ctr">
            <a:spAutoFit/>
          </a:bodyPr>
          <a:lstStyle/>
          <a:p>
            <a:pPr algn="l" defTabSz="803275"/>
            <a:r>
              <a:rPr lang="en-US" sz="4000" b="1" dirty="0"/>
              <a:t>INTRODUÇÃO</a:t>
            </a:r>
            <a:r>
              <a:rPr lang="pt-BR" sz="4000" b="1" dirty="0"/>
              <a:t> </a:t>
            </a:r>
          </a:p>
        </p:txBody>
      </p:sp>
      <p:sp>
        <p:nvSpPr>
          <p:cNvPr id="2054" name="Rectangle 45"/>
          <p:cNvSpPr>
            <a:spLocks noChangeArrowheads="1"/>
          </p:cNvSpPr>
          <p:nvPr/>
        </p:nvSpPr>
        <p:spPr bwMode="auto">
          <a:xfrm>
            <a:off x="0" y="0"/>
            <a:ext cx="288036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55" name="Text Box 65"/>
          <p:cNvSpPr txBox="1">
            <a:spLocks noChangeArrowheads="1"/>
          </p:cNvSpPr>
          <p:nvPr/>
        </p:nvSpPr>
        <p:spPr bwMode="auto">
          <a:xfrm>
            <a:off x="15337904" y="21481802"/>
            <a:ext cx="4073525" cy="69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0284" tIns="40142" rIns="80284" bIns="40142">
            <a:spAutoFit/>
          </a:bodyPr>
          <a:lstStyle/>
          <a:p>
            <a:pPr algn="just" defTabSz="3973513"/>
            <a:r>
              <a:rPr lang="pt-BR" sz="4000" b="1" dirty="0"/>
              <a:t>CONCLUSÃO</a:t>
            </a:r>
            <a:r>
              <a:rPr lang="pt-BR" sz="3600" b="1" dirty="0"/>
              <a:t> </a:t>
            </a:r>
          </a:p>
        </p:txBody>
      </p:sp>
      <p:sp>
        <p:nvSpPr>
          <p:cNvPr id="2059" name="Text Box 66"/>
          <p:cNvSpPr txBox="1">
            <a:spLocks noChangeArrowheads="1"/>
          </p:cNvSpPr>
          <p:nvPr/>
        </p:nvSpPr>
        <p:spPr bwMode="auto">
          <a:xfrm>
            <a:off x="15004738" y="22458154"/>
            <a:ext cx="12642850" cy="36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284" tIns="40142" rIns="80284" bIns="40142"/>
          <a:lstStyle>
            <a:lvl1pPr indent="531813" defTabSz="3973513" eaLnBrk="0" hangingPunct="0">
              <a:tabLst>
                <a:tab pos="12444413" algn="l"/>
              </a:tabLst>
              <a:defRPr sz="21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3973513" eaLnBrk="0" hangingPunct="0">
              <a:tabLst>
                <a:tab pos="12444413" algn="l"/>
              </a:tabLst>
              <a:defRPr sz="21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3973513" eaLnBrk="0" hangingPunct="0">
              <a:tabLst>
                <a:tab pos="12444413" algn="l"/>
              </a:tabLst>
              <a:defRPr sz="21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3973513" eaLnBrk="0" hangingPunct="0">
              <a:tabLst>
                <a:tab pos="12444413" algn="l"/>
              </a:tabLst>
              <a:defRPr sz="21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3973513" eaLnBrk="0" hangingPunct="0">
              <a:tabLst>
                <a:tab pos="12444413" algn="l"/>
              </a:tabLst>
              <a:defRPr sz="21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3973513" eaLnBrk="0" fontAlgn="base" hangingPunct="0">
              <a:spcBef>
                <a:spcPct val="0"/>
              </a:spcBef>
              <a:spcAft>
                <a:spcPct val="0"/>
              </a:spcAft>
              <a:tabLst>
                <a:tab pos="12444413" algn="l"/>
              </a:tabLst>
              <a:defRPr sz="21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3973513" eaLnBrk="0" fontAlgn="base" hangingPunct="0">
              <a:spcBef>
                <a:spcPct val="0"/>
              </a:spcBef>
              <a:spcAft>
                <a:spcPct val="0"/>
              </a:spcAft>
              <a:tabLst>
                <a:tab pos="12444413" algn="l"/>
              </a:tabLst>
              <a:defRPr sz="21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3973513" eaLnBrk="0" fontAlgn="base" hangingPunct="0">
              <a:spcBef>
                <a:spcPct val="0"/>
              </a:spcBef>
              <a:spcAft>
                <a:spcPct val="0"/>
              </a:spcAft>
              <a:tabLst>
                <a:tab pos="12444413" algn="l"/>
              </a:tabLst>
              <a:defRPr sz="21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3973513" eaLnBrk="0" fontAlgn="base" hangingPunct="0">
              <a:spcBef>
                <a:spcPct val="0"/>
              </a:spcBef>
              <a:spcAft>
                <a:spcPct val="0"/>
              </a:spcAft>
              <a:tabLst>
                <a:tab pos="12444413" algn="l"/>
              </a:tabLst>
              <a:defRPr sz="21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just"/>
            <a:r>
              <a:rPr lang="pt-BR" sz="3600" dirty="0"/>
              <a:t>Assistir adolescentes, seja na promoção à saúde, prevenção ou já com algum distúrbio nutricional e de autoimagem instalado, demanda competência e habilidade. É preciso resgatar valores, mostrar aos jovens suas habilidades internas e promover a recuperação do bom senso para sensibilizá-los a manter sua saúde integral e seu potencial de crescimento e desenvolvimento físico saudável. </a:t>
            </a:r>
          </a:p>
          <a:p>
            <a:pPr algn="just">
              <a:defRPr/>
            </a:pPr>
            <a:endParaRPr lang="pt-BR" sz="2400" dirty="0" smtClean="0">
              <a:latin typeface="+mj-lt"/>
            </a:endParaRPr>
          </a:p>
        </p:txBody>
      </p:sp>
      <p:sp>
        <p:nvSpPr>
          <p:cNvPr id="2057" name="Text Box 68"/>
          <p:cNvSpPr txBox="1">
            <a:spLocks noChangeArrowheads="1"/>
          </p:cNvSpPr>
          <p:nvPr/>
        </p:nvSpPr>
        <p:spPr bwMode="auto">
          <a:xfrm>
            <a:off x="15250838" y="27818505"/>
            <a:ext cx="9736138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0284" tIns="40142" rIns="80284" bIns="40142">
            <a:spAutoFit/>
          </a:bodyPr>
          <a:lstStyle/>
          <a:p>
            <a:pPr algn="just" defTabSz="3973513"/>
            <a:r>
              <a:rPr lang="en-US" sz="4000" b="1" dirty="0"/>
              <a:t>REFERÊNCIAS BIBLIOGRÁFICAS</a:t>
            </a:r>
            <a:r>
              <a:rPr lang="pt-BR" sz="4000" dirty="0"/>
              <a:t> </a:t>
            </a:r>
            <a:r>
              <a:rPr lang="pt-BR" sz="4000" b="1" dirty="0"/>
              <a:t> </a:t>
            </a:r>
          </a:p>
        </p:txBody>
      </p:sp>
      <p:sp>
        <p:nvSpPr>
          <p:cNvPr id="2060" name="Text Box 72"/>
          <p:cNvSpPr txBox="1">
            <a:spLocks noChangeArrowheads="1"/>
          </p:cNvSpPr>
          <p:nvPr/>
        </p:nvSpPr>
        <p:spPr bwMode="auto">
          <a:xfrm>
            <a:off x="15283457" y="33219397"/>
            <a:ext cx="6607175" cy="696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0284" tIns="40142" rIns="80284" bIns="40142">
            <a:spAutoFit/>
          </a:bodyPr>
          <a:lstStyle/>
          <a:p>
            <a:pPr algn="l" defTabSz="3973513"/>
            <a:r>
              <a:rPr lang="pt-BR" sz="4000" b="1" dirty="0"/>
              <a:t>AGRADECIMENTOS</a:t>
            </a:r>
            <a:endParaRPr lang="pt-BR" sz="4000" dirty="0"/>
          </a:p>
        </p:txBody>
      </p:sp>
      <p:sp>
        <p:nvSpPr>
          <p:cNvPr id="2067" name="Text Box 32"/>
          <p:cNvSpPr txBox="1">
            <a:spLocks noChangeArrowheads="1"/>
          </p:cNvSpPr>
          <p:nvPr/>
        </p:nvSpPr>
        <p:spPr bwMode="auto">
          <a:xfrm>
            <a:off x="22610763" y="22178963"/>
            <a:ext cx="2808287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3973513">
              <a:spcBef>
                <a:spcPct val="50000"/>
              </a:spcBef>
            </a:pPr>
            <a:endParaRPr lang="en-US"/>
          </a:p>
        </p:txBody>
      </p:sp>
      <p:sp>
        <p:nvSpPr>
          <p:cNvPr id="2068" name="Rectangle 36"/>
          <p:cNvSpPr>
            <a:spLocks noChangeArrowheads="1"/>
          </p:cNvSpPr>
          <p:nvPr/>
        </p:nvSpPr>
        <p:spPr bwMode="auto">
          <a:xfrm>
            <a:off x="0" y="0"/>
            <a:ext cx="2880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71" name="Rectangle 38"/>
          <p:cNvSpPr>
            <a:spLocks noChangeArrowheads="1"/>
          </p:cNvSpPr>
          <p:nvPr/>
        </p:nvSpPr>
        <p:spPr bwMode="auto">
          <a:xfrm>
            <a:off x="0" y="0"/>
            <a:ext cx="288036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" name="Rectangle 40"/>
          <p:cNvSpPr>
            <a:spLocks noChangeArrowheads="1"/>
          </p:cNvSpPr>
          <p:nvPr/>
        </p:nvSpPr>
        <p:spPr bwMode="auto">
          <a:xfrm>
            <a:off x="0" y="0"/>
            <a:ext cx="288036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73" name="Text Box 66"/>
          <p:cNvSpPr txBox="1">
            <a:spLocks noChangeArrowheads="1"/>
          </p:cNvSpPr>
          <p:nvPr/>
        </p:nvSpPr>
        <p:spPr bwMode="auto">
          <a:xfrm>
            <a:off x="15004738" y="29019474"/>
            <a:ext cx="12642850" cy="334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0284" tIns="40142" rIns="80284" bIns="40142"/>
          <a:lstStyle/>
          <a:p>
            <a:pPr algn="just"/>
            <a:r>
              <a:rPr lang="pt-BR" sz="1800" dirty="0"/>
              <a:t>ASSUNÇÃO, M. C. F; MUNIZ, L. C; et al; Tornar-se obeso na adolescência pode trazer consequências à Saúde Mental? Saúde Pública, Rio de Janeiro, v. 2, p.1859-1866, 29 set. </a:t>
            </a:r>
            <a:r>
              <a:rPr lang="pt-BR" sz="1800" dirty="0" smtClean="0"/>
              <a:t>2013.</a:t>
            </a:r>
          </a:p>
          <a:p>
            <a:pPr algn="just"/>
            <a:endParaRPr lang="pt-BR" sz="1800" dirty="0" smtClean="0"/>
          </a:p>
          <a:p>
            <a:pPr algn="just"/>
            <a:r>
              <a:rPr lang="pt-BR" sz="1800" dirty="0"/>
              <a:t>CASTRO, I. R; LEVY, R. B; et al; Imagem Corporal, estado nutricional e comportamento com relação ao peso entre adolescentes brasileiros. Ciência e Saúde Coletiva, Rio de Janeiro, v. 15, p.3099-3108, 05 ago. 2010</a:t>
            </a:r>
            <a:r>
              <a:rPr lang="pt-BR" sz="1800" dirty="0" smtClean="0"/>
              <a:t>.</a:t>
            </a:r>
          </a:p>
          <a:p>
            <a:pPr algn="just"/>
            <a:endParaRPr lang="pt-BR" sz="1800" dirty="0" smtClean="0"/>
          </a:p>
          <a:p>
            <a:pPr algn="just"/>
            <a:r>
              <a:rPr lang="pt-BR" sz="1800" dirty="0" smtClean="0"/>
              <a:t>CÉSAR</a:t>
            </a:r>
            <a:r>
              <a:rPr lang="pt-BR" sz="1800" dirty="0"/>
              <a:t>, P. RIBEIRO, P, et al. Culto ao Corpo: beleza ou doença? Adolescência e Saúde, Rio de Janeiro, v. 8, n. 3, p. 63-69, setembro 2011</a:t>
            </a:r>
            <a:r>
              <a:rPr lang="pt-BR" sz="1800" dirty="0" smtClean="0"/>
              <a:t>.</a:t>
            </a:r>
          </a:p>
          <a:p>
            <a:pPr algn="just"/>
            <a:endParaRPr lang="pt-BR" sz="1800" dirty="0"/>
          </a:p>
          <a:p>
            <a:pPr algn="just"/>
            <a:r>
              <a:rPr lang="pt-BR" sz="1800" dirty="0"/>
              <a:t>ENES, C.C; SLATER, B; Obesidade na adolescência e seus principais fatores determinantes. Revista brasileira de epidemiologia, São Paulo, vol. 13, nº 1, mar. 2010</a:t>
            </a:r>
            <a:r>
              <a:rPr lang="pt-BR" sz="1800" dirty="0" smtClean="0"/>
              <a:t>.</a:t>
            </a:r>
          </a:p>
          <a:p>
            <a:pPr algn="just"/>
            <a:endParaRPr lang="pt-BR" sz="1800" dirty="0"/>
          </a:p>
          <a:p>
            <a:pPr algn="just"/>
            <a:r>
              <a:rPr lang="pt-BR" sz="1800" dirty="0"/>
              <a:t>GONÇALVES, J. A; MOREIRA, E. A, et al; Transtornos alimentares na infância e na adolescência. Paul Pediatra, Florianópolis, v. 2, p.96-103, 12 maio 2012.</a:t>
            </a:r>
            <a:endParaRPr lang="pt-BR" sz="1800" dirty="0"/>
          </a:p>
        </p:txBody>
      </p:sp>
      <p:grpSp>
        <p:nvGrpSpPr>
          <p:cNvPr id="2076" name="Grupo 48"/>
          <p:cNvGrpSpPr>
            <a:grpSpLocks/>
          </p:cNvGrpSpPr>
          <p:nvPr/>
        </p:nvGrpSpPr>
        <p:grpSpPr bwMode="auto">
          <a:xfrm>
            <a:off x="200" y="7849665"/>
            <a:ext cx="28803600" cy="359024"/>
            <a:chOff x="0" y="3817689"/>
            <a:chExt cx="28803600" cy="359024"/>
          </a:xfrm>
          <a:solidFill>
            <a:schemeClr val="accent1">
              <a:lumMod val="50000"/>
            </a:schemeClr>
          </a:solidFill>
        </p:grpSpPr>
        <p:sp>
          <p:nvSpPr>
            <p:cNvPr id="2171" name="Retângulo 46"/>
            <p:cNvSpPr>
              <a:spLocks noChangeArrowheads="1"/>
            </p:cNvSpPr>
            <p:nvPr/>
          </p:nvSpPr>
          <p:spPr bwMode="auto">
            <a:xfrm>
              <a:off x="0" y="4105275"/>
              <a:ext cx="28803600" cy="71438"/>
            </a:xfrm>
            <a:prstGeom prst="rect">
              <a:avLst/>
            </a:prstGeom>
            <a:grpFill/>
            <a:ln w="0" algn="ctr">
              <a:solidFill>
                <a:srgbClr val="85E77D"/>
              </a:solidFill>
              <a:round/>
              <a:headEnd/>
              <a:tailEnd/>
            </a:ln>
          </p:spPr>
          <p:txBody>
            <a:bodyPr/>
            <a:lstStyle/>
            <a:p>
              <a:pPr defTabSz="3973513"/>
              <a:endParaRPr lang="pt-BR"/>
            </a:p>
          </p:txBody>
        </p:sp>
        <p:sp>
          <p:nvSpPr>
            <p:cNvPr id="2172" name="Retângulo 47"/>
            <p:cNvSpPr>
              <a:spLocks noChangeArrowheads="1"/>
            </p:cNvSpPr>
            <p:nvPr/>
          </p:nvSpPr>
          <p:spPr bwMode="auto">
            <a:xfrm>
              <a:off x="0" y="3817689"/>
              <a:ext cx="28803600" cy="179511"/>
            </a:xfrm>
            <a:prstGeom prst="rect">
              <a:avLst/>
            </a:prstGeom>
            <a:grpFill/>
            <a:ln w="0" algn="ctr">
              <a:noFill/>
              <a:round/>
              <a:headEnd/>
              <a:tailEnd/>
            </a:ln>
          </p:spPr>
          <p:txBody>
            <a:bodyPr/>
            <a:lstStyle/>
            <a:p>
              <a:pPr defTabSz="3973513"/>
              <a:endParaRPr lang="pt-BR"/>
            </a:p>
          </p:txBody>
        </p:sp>
      </p:grpSp>
      <p:sp>
        <p:nvSpPr>
          <p:cNvPr id="8" name="Retângulo 7"/>
          <p:cNvSpPr/>
          <p:nvPr/>
        </p:nvSpPr>
        <p:spPr bwMode="auto">
          <a:xfrm>
            <a:off x="0" y="2873692"/>
            <a:ext cx="28803600" cy="3247237"/>
          </a:xfrm>
          <a:prstGeom prst="rect">
            <a:avLst/>
          </a:prstGeom>
          <a:solidFill>
            <a:schemeClr val="accent1">
              <a:lumMod val="75000"/>
              <a:alpha val="92941"/>
            </a:schemeClr>
          </a:solidFill>
          <a:ln>
            <a:solidFill>
              <a:srgbClr val="85E77D"/>
            </a:solidFill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pt-BR" sz="6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1108825" y="2873692"/>
            <a:ext cx="2702807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DISTÚRBIOS NUTRICIONAIS E A PERCEPÇÃO DA AUTOIMAGEM NA ADOLESCÊNCIA: CAUSAS E CONSEQUÊNCIAS</a:t>
            </a:r>
            <a:endParaRPr lang="pt-BR" sz="70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8" name="Conector reto 17"/>
          <p:cNvCxnSpPr/>
          <p:nvPr/>
        </p:nvCxnSpPr>
        <p:spPr bwMode="auto">
          <a:xfrm>
            <a:off x="1217295" y="11011050"/>
            <a:ext cx="12453938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3449279" y="723274"/>
            <a:ext cx="2209967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 smtClean="0"/>
              <a:t>SEMANA NACIONAL DE CIÊNCIA E TECNOLOGIA UFCG/CES</a:t>
            </a:r>
          </a:p>
          <a:p>
            <a:r>
              <a:rPr lang="pt-BR" sz="4400" b="1" dirty="0" smtClean="0"/>
              <a:t>CUITÉ - PB</a:t>
            </a:r>
            <a:endParaRPr lang="pt-BR" sz="4400" b="1" dirty="0"/>
          </a:p>
        </p:txBody>
      </p:sp>
      <p:sp>
        <p:nvSpPr>
          <p:cNvPr id="21" name="AutoShape 12" descr="data:image/jpeg;base64,/9j/4AAQSkZJRgABAQAAAQABAAD/2wCEAAkGBxQPEBQUEBQWFRQXFBUUGBQWFRQXFRQXFRUXFxUYFRgZHiggGBolHBUUIjEhJSkrLi4uGCAzODMtNygtLisBCgoKDg0OGxAQGy0lIBwtLCwsLCwvLCwsLSssLCwsLCwsLCwsLCwsLCwsLCwsLCwsLCwsNCwsLCwsLCwsLCwsLP/AABEIAN0A5AMBIgACEQEDEQH/xAAcAAEAAgMBAQEAAAAAAAAAAAAABgcBBAUDCAL/xABNEAABAwIDAwQLDQcDAwUAAAABAAIDBBEFEiEGBzETQVFhFCIyQlJxcnOBkbEVIzM0U1Vik6GywdHSFyQ1NkOSs4KDohZE4VTCw/Dx/8QAGgEBAAIDAQAAAAAAAAAAAAAAAAEEAgMFBv/EAC8RAAIBAgQEBAYCAwAAAAAAAAABAgMRBBIhMQUTQVEyUnGBFSJCYaGxFDQzkeH/2gAMAwEAAhEDEQA/ALkREWRiEREAREQBEWLoSZRLrF0sDKLF1m6WARYul0sDKLF0ulgZRLrF0sDKJdEsAiwiAyiBEICIiAIiIAiIgCIiAIiIAhRCgKg34VT456bI9zbxvvlcRezh0Ks/dKb5aT6x/wCasffx8NS+bf8AeCq1dfCxTposR2Nr3Tm+Wk+sf+ae6c3y0n1j/wA1ZG7fd9S4lRcvOZA/lJGdq+ws06aWUY2R2diq8WdSSl3Jh04u02d724huvoCc6nrp4RdEe905vlpPrH/ms+6U3y0n1j/zUo3n7Lw4XURR05eWvjLjnNzcOtoufsBgkeIV7IJs2RzXk5TY3aLjVZqcHDPbQnS1zje6c3y0n1j/AM0905vlpPrH/mrqqt1eGQ25WV7L8M87W38V1XO8fAaWgmibRSco1zHOceUa+xDgAO14cVrp16dSVkvwQmmRz3Sm+Wl+sf8Amse6c3y0n1j/AM1v7J7OSYnUiGLtdMz3kXDGggXPXroFbJ3b4VRsb2XL2x76SUR5jz5W3CmpWpwdmiW0il/dOb5aT6x35p7pzfLSfWP/ADVibwdi6GlouyaGQu98Y3SQSMs699Rz6KtaeB0j2sYCXOcGtA5yTYLOnOE45rBW3Pb3Tm+Wk+sd+ae6c3y0n1j/AM1buB7pqaGESYjKS613AOEccfUXHj417nd/g9S13Y0oLgCfe5w46dIuVp/k0r7EXRTnunN8tJ9Y/wDNdzYTEJXYlSB0shBmAIL3EHQ8QSo1I2xI6CR6iu5sD/FKTzw9hW+pGORu3QlrQ+mAiIuIVwiIhAREQBERAEREAREQBCiICm9/Hw1L5t/3gqtVqb+PhaXyH/eCqsLsYX/EixDYv/ch/Cv9+b2hQPdz/MT/ADlX98rrbmdr4aeN9JUPEd3mSN7jZrswGZpJ0BuL+lTHD9mqCirJK8TBrnZ3HNKzk2Zzd5bw49ZVKbcJzTXiMXpcge/r45B5l331x9zv8Xi8iT7q195+0bMRrs8JvFGwRtd4et3OHVfh4l+90tQ2PFYnSODW5JO2cQB3PSVZUWsPb7GVvlLj232TpMRdGayQsLA4Ns9jb3tfuhrwVDbZ4TFRVskNO7NG0Ns4kEm411GhU4361kc0lLyT2Ps2S+Vwda5HGyqxRg4SUVJv2EEXNuBibyVU7vs7G9eUNuPtJUK3t1D5MVmD+DMrGg8A2wOnjN1ndjtaMMqXcr8BKA15GuQg9q+3rB8fUrTx/ZrDcZLZzMM2UDlYpWAubzB17g+kXWuT5VdyktGRtI+e2uIBAJAPEXNjbpHOpVusia/FqYO5i5w8YY6yk+3mz2GYfQOZTPY6pc5li6QPlte7rAcBZVzg2JOpKiKePuo3h4HTbiD4xcKypKrTeVGW6Ld3+1LxT00YJDHyvLuhxY3tQerUnxgKHbObtamspmVUUsTA4Ei5eHi176gdStE4jh20FIGSPbzOLC4MlieARcX1B1OvAhdLDW0mF0QgFQ3IxrgHSSMzG9zrawPHoVCNWUIZEtbmF7Kx8yvFiR1n/wAru7BfxSk8832FcOU3c7yj7V3Ng/4pR+eb7CunPwP0Nj2PphERcMrBERCAiIgCIiAIiIAiIgCIiAqbfPTctVUMd7ZyWX6Mz2i/2rXn3RRxmz69jT0Oa0H1Fy6G9f4/hvnR/kYvXeKP30+bZ+KvUnJqMYu2hoxuKlhqSmlc437KIfnGL1M/Us/soh+cY7eJtvvLQyrOUdCs8qp5jj/Hp+U3v2TwfOMfqZ+pYO6eD5xi9TP1LSyhMoTlVPOPj9Tyo3Rung+cYvUz9Sz+yiD5xj9TP1LRyjoTKE5VTzD4/Pyo3v2UQ/OMfqZ+pBuohHDEo/Uz9S0bJlCh0qnmHx6flRu/sng+cY/Uz9Sz+yiD5xj9Tf1LRyhLKeXU8w+PT8pu/snh+cY/Uz9Syd1EJ44jGfQ39S0cqZQo5U/N+B8en5Ubzd00JNhiMdzzWZr/AMlyINnfczHqSnz8pZ8T81rd2H6W/wBK6WFj3+LzjPvBbu2H800vk0//AMqwk5xeVu90zq8Px0sUndWsW4iIuYWwiIhAREQBERAEREAREQBEQoCrt7Xx7DfOj/Ixe28T46fNs/FeO9z47hvnh/kYvfeKP33/AG2/ir9DePozncZ/rL1IwiIugeSCIsIDKL3o6UyktbxyOcB05Rcj1XXnDHnc1o4ucGj0m34rHMjLI9PufhF710HJSvZ4Li31FKildG2Mu79pcPFew9iZl/sODV/seCIiyMQiIhBsYZ8NF5xn3gt3bL+aaTyaf2yrRw34aLzjPvBb22X800nk0/tlVWt4/ZnpuBbSLcREXKO0EREICIiAIiIAiIgCIiAIUQoCrd7/AMbw3zw/yMWzvF+O/wC238Vrb4fjWG+eH+Ri2d4w/fB5tv4q/Q3j6M53GP63uRcIsIugeSC3sHpWzycmTlLxZjuYO5geo8PUtSItv21yOe3H0XXcp9nXzM5WjkEmUg5T2sjCOGnC61VJJLsWKFNyeiuatOJKCqYZWkFjrkHg5p0OU84sV3MdwIU1VBNCLxPlYQB3ri4Gw6ipFQxdn0/I1sRbI0WJIt4nscu7Fh4EUbH9tky2J6WWsfsXPniNfvszvUeHpxt03XdPsV/iezrpsUfHwY+0pP0bAOH91x6Vz9q5OWrOSiGjMsLGjnIP5lWuacZ89u2y5b9V72+wKPR4BFTSy1T7vdmc9oAJy38Ec7vzSGI1u+i0JrcO0aj9Tu/QrvGKNtM7kr5pBYvdzNJF8rfXxXOUv9xA7lauvDmMLi4R8HG50B6OiyjFbO17u0jbG0cGi5P+onUlXaNTNocTE0cju9L7I10RFYKZsYb8NF5xn3gt3bT+aKTyab2yrRw74aLzjPvBb22n80UnkU33plUreP2Z6XgW0i3AiBFyztBERCAiIgCIiAIiIAiIgCFEKAq7fF8Zw7z4/wAka2d43xwebb7StXfJ8Yw7z4+/GtreR8bb5tvtKv4fePozncY/re6IqFlEXQPJHWwXBRVaCaNh8F18xUjwvY6pgkD4qhjesBxuOgt51FMNwiWoPvbbDw3HK0en8lYGzmzLYSHOqHPeNbMeQ0ei+o8ao4ibjfX2Ozw+lGbXybdbkopmuDRnILucgWB9Fyva6j20+2FLhrb1D+272JlnSO/030HWbBVxWb7JM3vNK0N+m85vTlFgqMKNSeqR6iMHYulfhwVW4LvnheQ2rhdF9NhzsHjGjvVdWRh2IxVMYkge2Rh4OaQR/wCCsZ05w8SDiyMbR4NVVsgDnRxwNNxqXHynDTXqUHxOmp4iWxSSSEaZsrAy/Vz2Vk7QYC+pOlS9g8DTL9lioDi+z7YDZtTC5w4szZXfiFdw01s2ec4jRd21H3b/AEcNEIRdE4LPfD/ho/OM+8Fvba/zRSeRTfemWhQfCx+cZ94Lf22/mik8im+9Mqlbxr0Z6XgW0i3ERFyztBERCAiIgCIiAIiIAiIgCIiElX76W2koHng2fX+5h/Ara3jt/eWHmMQt6CVtb5sNM2Gl7Rcwva/xNPauPouCtLFJuzsLo6sauawRydTrBr/+TftV2jLwv1RS4pBzwzt0IuiLYp6cEF8jxHE3u5HcB1DwndAXQbsrs8jTpSqSyxWrP3hmGPqn5IxfnJPcsHOTzAL9Y3tpDhjHU+GZXzHSWqtoCOIZ0216h1qNbR7ZGSM09EDDTd8eEs/XIRwb9H/8USAWrlOo7y27Hr+H8NVBZp6y/R6VM7pXufI4ue43c5xuSesrzWUVhK2iOsF0cAx2egl5SmeWO5xxY/qe3nXOWLKJRUlZkF24RtXTY5G2GoIp6sDtTezXH6JPG/gnVcLE8NfSyGOVtj08zh0g86q8acPXzqwdnduhLGKXFLvZwjqdDJF0Zz3w6+PSq3LdJ3jt+Tk8R4aq6zR3R6XWFu4nhzoCNQ9jhdkjdWPHSD+C0rLepJq6PI1KcqcsslqbuDR5qiEDnkZ7br22oPK7VU4He8g3+1r3n7Ct/YWk5SsYeZgLz7B9pWjsU33Q2gqaviyMvLTzXIMbLegEqpWl87+y/Z6XgkLUpSfUt5FgLK5p1giIhAREQBERAEREARFyf+oIRVmke7JLla9odYCQHwOkjoRJsk6yLCygPCupWzRPjkF2vaWOHU4WKqfYObsGrqcJrNGSOdyRPAnXKQeh7cp8YVvqC7ztkTWxCop7iphGZuXi9o1sPpAi4W6lJeF9SbKScXsyDbTSjDpnRS3LxqAO+aeBvzA/moXi2LyVRHKEBrb5Y26NbfoHOes6qy6cx7S0fJyZYsSgGhIsZAON+BynnHelVbX0UlPI6KZpY9hLS0i3D2jrXSozUtJbo04TBUqDbitWa6ysLKsF8IiIAiIgMJZZWCgO9s7tQ+kBikHK0zj20JPcnwoj3rvsKlJfG9ofA/PGeB4Paedr2964epVwrE3d7K5B7oVzuRpYu2Adpy1uFweLL8Bzmy0VMtP5vx3Obj8BDERvtIk1bVjCMJkldpUVIyRjnAINj6Bc+pdrdXs6aCgGcWlmPKvvxaLAMb6AL+NxUbwSB+0GIdlztLaKB1oYzweQdPHwufQFaq51WXTq9WbaVJUaaproZREVcyCLUxDEYqcNMrw3M4MaCdXOcbBrRxJW2hIREQgIiIAiLBQGVTO/KAsqaaVtwSxwzA2ILHAgg8x1XY2n3nz0UzonUOVw4GSXRw6W5W6j0qvNsNs5sUDBMyNgYSW5A6+osbknVXcNRlmUraG2EXuTzd9vL5TLT17rP7lk/AO6BJ0HmurUBuvkpWJsBvHfR5YKsl8Gga/Uvi8fhM+0LPEYX6of6JlDqi8liy86WpZKwPjcHMcLhzTcEL1XP2NJW+3mxUgl7PwwllS05nMbpn01c0cM1uI4FcxstNtLFyctqfEo2loNrB5HEW5xccOIVtKD7b7v2Vp5eldyFU3tg5vatkI1Ga2odpo4KxCr0fTZmxS7lH41hM1FMYqhhY8c3M4dLTzjrWkrU93mVQ7A2giMcrdI6qwDgeYk2t6R2p51EdrdjJ8OOb4Wndqydgu0jmzW7k/YuhTr30lv+zapEaRYus3VgyCIsIAv0xhcQGgkk2AGpJPAAdK6ez2ztRiEuSmjLul50YwdLnfgp42eg2eaRHlrMQtq425OE8LC3c/ePSFpqVlHRasxbPHZzYqGgiFbjJDWjWOn4uceIzAcT9H1rZi7J2mqBcGDD4z3I0zW5hbi77B41+MC2Uq8cm7KxN72w8Ws1aXDwWNPwbOOvEq3qKkZCxscTQxjRYNaLABUKlWzvu/wjW5JGKCiZTxtiiaGsYMrWjmAWwES6qGsKNbY7YwYZHd5zykdpEOJ6z0N61xNvt4zKIOhpcslRwJ4si8q3F30fWqQrauSeR0kzy97jcucbk/kOpW6GGctZbGcYdyW4HjE+K4zSvqHZrTBzWDuGNbc2aPRx519Ar5ZwLF5KKds0OXO29swuNRY6XCmtDvPxOeRscTIXvcbBrYnEn/lw61txOHk3eOyRlOJeSLm4E2pELTWOY6Y6kRtytbfvRqb26V0lz2agiIhAQoiA4202zkGIwmOdvkvGj2Hpafw4Kgdr9k58MlyyjNG4nJKL5XjoPgu6l9Lrl7Sin7FlNYGmANJfm/D6XQrFCvKDt07GcJNM+XUXpUlhe7kwQzMcocbuDb6XPTay9ZcPlZG2V0TxE7uZCxwY6/Q61l17rqbyzdyHZTnS2d+6NBBaeBkNrZOjTirgVJ7u94sdFE2mqYw2ME2lYNRm4528/jCuHDsRiqWCSCRsjD3zTf19BXIxMZZ22jRNO5trFkWVXMDj7R7N0+IR5KhgPgvGj2HpaR7OCriopa/AMwIFZh5vmYRfI3nzA9xpzi7T1K31hzbiy2QqOOj1RkpFHz7J0mLMM2DyCOS130cpsR05Drb7R4lAsQoZKaQxzsdG8cWuFj4x0jrCuzandqyV/L0Dux6gG4y6MJ6ratPi9Sj79qC09ibRUtxwbOG9sPpAjj03b6ldpV39Oq7dTapFWxsLiA0EuJsGgXJJ5gBxU9wnd+2CPsnGJBTw8RCD77J1G3DxC58S6cu0GG4M0jCmdk1Lv6z7uDA7UAGwuRoLD0rywvYeuxiUVGJvdGw8AfhC3oYzgwePVZzrNryr8kuRp1m101ZaiwWAwQ+CwASvHOXu7wa66361L9it2EdKRLW2lm7oNFzGw+nu3dZ0UzwLAYKGMR07A0c54ud1udxK6YVKdb6YKy/Jrc+xgNtwWURaDWFHN4XZHudMaRxbI1uY27osB7cN6Da/qUiUV2q26pKEOa94klt8Cztjr4R4NHjWdNNyVlcyitT50Lr6nW+t+m6LdFO+rnf2NE4lznPEbAXFrbk28Q6StIhdxMsG7g+FS1kzYaduZ7ubmA5y48wHSr/ANh9iosMjvo+dw7eX/2svwaoxuOrYTBLEGtbO12Zzu+kYe5Po4W8StBczFV5OWToaqkuhmyIipGoIiKQEREAKqbfcaoiMAHsQaktJ1k5uU6AObmVs2XlUQNkaWvaHNcLFpFwQeYrOnPJJOxlF2Z8v4FFA+bLVPcyNzXND26hjyO1Lvo342VrhzaiOCMVUb6eGjMdcW9tDkFsmQHuZTZ1jxHqXF253XOiLpsPBfHxdB37Onkz3zerj41CcCx2Sh5VnJskjlAZLBK05X5SbXA1aQSuhNKss0Ht0N2+xtVWzb5IzU0zCIJJuSp43kmaXraO+AsVy6OuqKKU8k+SCRpsQLtNxzOaePpBU7wbbqBmaqqW3nYBBT0sILWQRHunsc7TN1nXQKQwYdT4zTtnkp5HBrORiMkzGVEoBHKzPeLA5QPaodaUNJrQX7nAwTfBPHYVcTZR4bLMf6uB+xTjCt5lBUWvKYneDKLfaLhVBW7LmTEJKXDialreD7t4Wu7M7RuhuL864FXTOikdHIMr2OLHDQ2LTYjRZfx6VTw6DKmfU9HiEUwvFIx4+i5p9i2V8lxPLTdpLT0gkH1hdej2rrYfg6qUdWcuH23Wp4F/SzB0ux9OrRxjB4ayMx1EbZGnmI1HW08WnrCoeDeZiTP64d5UbD+C2272cRHPAfHCfwetf8OothkaLU2b2Do6B2eOPPJc2fJZzmAng3mb0X4qTqhzvcxDop/qnfrXjLvWxF3B8TfJhH4uKl4Wq3qHBl/LDnAC5Nh0nRfOVVvBxGTjUuHkhjfYFw63FZ5vhppH+U9xHqUrBS6sctn0hie1lHTfC1EYPghwc71BQ3GN8MDLilhfKfCdZjPxKpjkTlzZTlvbNY5b2va/TpwXRr8EkpmQSTi0U4ztcwh3ag9tw4OtzLbHC04vV3MsiR1sf3g11ZcOl5KM/wBOLtBb6Th2x9a8cK2Slk5OSpcKeB7gOUkIDyHG2ZrCbuGo1UkpNlaeGsFO732GsgDqSpcBmbJYOANtOPHTgsbWsocQmE81X2NIxohnp3Rue9roiQRDbSx9XOp5iXywVvuTfsdaeCPB88LKUyMnyxhrKh3ZUwZd3K9p3EXSAehRXb2CkZHByEUcNQbmSOGQyMDe9zOPfryxLbqfk+x6Z5bCy7I5XgdkmLma5/MOPDXh0Lb2H3dS15Es4MVPe9+D5epnQPpepYxjk+eb/wChabn63R4TUyVrZoe1ij0keQcrgeLB0k2HiV9rWw3D46aJsULAxjRYNH/3U9a2lTrVeZK5plK7CIi1GIREQBERAEREAUV2r2DpcRu5zeTm+VYAD/rHBw8alSFZRk4u6JTa2PnTaXd9WUN3ZDNEP6kQJt5TNS37QtHBNq6ikfEc3KMha+NsTycgbIAHtFuHBfTNlG8e2Hoq25lhDX/KR9o/024+lW44rMrVFc2Kp3Ku2S22p6WSKFlM2GFz2OmlMjuUzB18xLRqwadr0LlUsEFbjpbI9pglq3nMD2r2klzRfocbD0qUYzudeLmkna4eBKLH+4afYodiGw1fT6vp3kDXNGQ8ac/a6rdDlO7i7NozTTJk2ibVPxCOpoo6anp45OTlEXJuY5hsyz7DPmAv6QvPEd2bXR0PY9w55YKok3EYdEHl1u959OsKA4pjFW5ghqppiwf05S8DTqdxXTZt9WXdeRpa98T3sDQA7kg0NFxqAQ0A9KjlVF4WRZkhqN2Qe6tbSzOc6ncxrGuDffHGMPc0kWsdbBaGH7vDK9jXTlhNIKpw5Euc3UgsDQ67jp4+paM+3M7hMWgMklqY6rO0ntXRtDQ0DnFguuN5ZdWdkSQHWm7Hc1j8p1JJc0204lLYhE/Ma2GbBsqJZmsqJSIY2vLOxXsqHFxOjYXkGwA4891wKXC4jiEdO57+SdMyMvcwxSAOIFyx3ckE8CupHtJSNqOW7Hqc2VoDuzH8oCD4fO21hZc3aTaJ1bWdlFoYQWFrRrbk+5JPOdBcrZT5t3fsTqdfB9n4G426iqQXRZ3xNJJBuWh0ZNlu4ZSGkoZ5GwsNVR13JuL4weVjecoabjUXvb0FcTG9t5KoucYqeORzmuMzGWmzMsWkPvcHQL81OMYjiLQxzppm3DgGx2BI4EljRc9ZKxlGcvEyLMmW3+HRTUwZSuhhfTnl56TM1nbzMDi5hJFyLkW6yNFGcH2ipjh5pa+OWTk5RJDyZAIBHbNLj3I4+tedLu/xGpdmMDgSb55nAX6ze5Upwrc3IbGqna36MYLj/c7T7FiuXCOWUhddSJf9bVETTHSnkoASYmOtI+AEahkjhcXNz6VrYFspWYi68UTi0m7pn3ay51JzO7o+K6u3BN3dDSEOEXKPHfykv9TeA9SlbW2FhoOgLU8VGP8AjXuYOa6EA2T3X09JZ9SRUS8bFvvTT1NPHxlT9otwWUVSc5Sd2a22wiIsSAiIgCIiAIiIAiIgCIiAIiIAsLKIDynp2PFnsa4dDmg+1cmp2RoZe7pID/ttHssu2ilSaJuRZ+7zDj/2rB5JcPYV5/s3w7/0/wDzk/Upaiy5ku7JzMirN3eHD/tWHxl59pWzDsRh7O5pIfSwH2qQoo5ku5F2aFNg1PF8HBE3yY2D2BbzWgcBbxLKKLsXMLIRFBAREQBERAEREAREQBERA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2" name="AutoShape 14" descr="data:image/jpeg;base64,/9j/4AAQSkZJRgABAQAAAQABAAD/2wCEAAkGBxQPEBQUEBQWFRQXFBUUGBQWFRQXFRQXFRUXFxUYFRgZHiggGBolHBUUIjEhJSkrLi4uGCAzODMtNygtLisBCgoKDg0OGxAQGy0lIBwtLCwsLCwvLCwsLSssLCwsLCwsLCwsLCwsLCwsLCwsLCwsLCwsNCwsLCwsLCwsLCwsLP/AABEIAN0A5AMBIgACEQEDEQH/xAAcAAEAAgMBAQEAAAAAAAAAAAAABgcBBAUDCAL/xABNEAABAwIDAwQLDQcDAwUAAAABAAIDBBEFEiEGBzETQVFhFCIyQlJxcnOBkbEVIzM0U1Vik6GywdHSFyQ1NkOSs4KDohZE4VTCw/Dx/8QAGgEBAAIDAQAAAAAAAAAAAAAAAAEEAgMFBv/EAC8RAAIBAgQEBAYCAwAAAAAAAAABAgMRBBIhMQUTQVEyUnGBFSJCYaGxFDQzkeH/2gAMAwEAAhEDEQA/ALkREWRiEREAREQBEWLoSZRLrF0sDKLF1m6WARYul0sDKLF0ulgZRLrF0sDKJdEsAiwiAyiBEICIiAIiIAiIgCIiAIiIAhRCgKg34VT456bI9zbxvvlcRezh0Ks/dKb5aT6x/wCasffx8NS+bf8AeCq1dfCxTposR2Nr3Tm+Wk+sf+ae6c3y0n1j/wA1ZG7fd9S4lRcvOZA/lJGdq+ws06aWUY2R2diq8WdSSl3Jh04u02d724huvoCc6nrp4RdEe905vlpPrH/ms+6U3y0n1j/zUo3n7Lw4XURR05eWvjLjnNzcOtoufsBgkeIV7IJs2RzXk5TY3aLjVZqcHDPbQnS1zje6c3y0n1j/AM0905vlpPrH/mrqqt1eGQ25WV7L8M87W38V1XO8fAaWgmibRSco1zHOceUa+xDgAO14cVrp16dSVkvwQmmRz3Sm+Wl+sf8Amse6c3y0n1j/AM1v7J7OSYnUiGLtdMz3kXDGggXPXroFbJ3b4VRsb2XL2x76SUR5jz5W3CmpWpwdmiW0il/dOb5aT6x35p7pzfLSfWP/ADVibwdi6GlouyaGQu98Y3SQSMs699Rz6KtaeB0j2sYCXOcGtA5yTYLOnOE45rBW3Pb3Tm+Wk+sd+ae6c3y0n1j/AM1buB7pqaGESYjKS613AOEccfUXHj417nd/g9S13Y0oLgCfe5w46dIuVp/k0r7EXRTnunN8tJ9Y/wDNdzYTEJXYlSB0shBmAIL3EHQ8QSo1I2xI6CR6iu5sD/FKTzw9hW+pGORu3QlrQ+mAiIuIVwiIhAREQBERAEREAREQBCiICm9/Hw1L5t/3gqtVqb+PhaXyH/eCqsLsYX/EixDYv/ch/Cv9+b2hQPdz/MT/ADlX98rrbmdr4aeN9JUPEd3mSN7jZrswGZpJ0BuL+lTHD9mqCirJK8TBrnZ3HNKzk2Zzd5bw49ZVKbcJzTXiMXpcge/r45B5l331x9zv8Xi8iT7q195+0bMRrs8JvFGwRtd4et3OHVfh4l+90tQ2PFYnSODW5JO2cQB3PSVZUWsPb7GVvlLj232TpMRdGayQsLA4Ns9jb3tfuhrwVDbZ4TFRVskNO7NG0Ns4kEm411GhU4361kc0lLyT2Ps2S+Vwda5HGyqxRg4SUVJv2EEXNuBibyVU7vs7G9eUNuPtJUK3t1D5MVmD+DMrGg8A2wOnjN1ndjtaMMqXcr8BKA15GuQg9q+3rB8fUrTx/ZrDcZLZzMM2UDlYpWAubzB17g+kXWuT5VdyktGRtI+e2uIBAJAPEXNjbpHOpVusia/FqYO5i5w8YY6yk+3mz2GYfQOZTPY6pc5li6QPlte7rAcBZVzg2JOpKiKePuo3h4HTbiD4xcKypKrTeVGW6Ld3+1LxT00YJDHyvLuhxY3tQerUnxgKHbObtamspmVUUsTA4Ei5eHi176gdStE4jh20FIGSPbzOLC4MlieARcX1B1OvAhdLDW0mF0QgFQ3IxrgHSSMzG9zrawPHoVCNWUIZEtbmF7Kx8yvFiR1n/wAru7BfxSk8832FcOU3c7yj7V3Ng/4pR+eb7CunPwP0Nj2PphERcMrBERCAiIgCIiAIiIAiIgCIiAqbfPTctVUMd7ZyWX6Mz2i/2rXn3RRxmz69jT0Oa0H1Fy6G9f4/hvnR/kYvXeKP30+bZ+KvUnJqMYu2hoxuKlhqSmlc437KIfnGL1M/Us/soh+cY7eJtvvLQyrOUdCs8qp5jj/Hp+U3v2TwfOMfqZ+pYO6eD5xi9TP1LSyhMoTlVPOPj9Tyo3Rung+cYvUz9Sz+yiD5xj9TP1LRyjoTKE5VTzD4/Pyo3v2UQ/OMfqZ+pBuohHDEo/Uz9S0bJlCh0qnmHx6flRu/sng+cY/Uz9Sz+yiD5xj9Tf1LRyhLKeXU8w+PT8pu/snh+cY/Uz9Syd1EJ44jGfQ39S0cqZQo5U/N+B8en5Ubzd00JNhiMdzzWZr/AMlyINnfczHqSnz8pZ8T81rd2H6W/wBK6WFj3+LzjPvBbu2H800vk0//AMqwk5xeVu90zq8Px0sUndWsW4iIuYWwiIhAREQBERAEREAREQBEQoCrt7Xx7DfOj/Ixe28T46fNs/FeO9z47hvnh/kYvfeKP33/AG2/ir9DePozncZ/rL1IwiIugeSCIsIDKL3o6UyktbxyOcB05Rcj1XXnDHnc1o4ucGj0m34rHMjLI9PufhF710HJSvZ4Li31FKildG2Mu79pcPFew9iZl/sODV/seCIiyMQiIhBsYZ8NF5xn3gt3bL+aaTyaf2yrRw34aLzjPvBb22X800nk0/tlVWt4/ZnpuBbSLcREXKO0EREICIiAIiIAiIgCIiAIUQoCrd7/AMbw3zw/yMWzvF+O/wC238Vrb4fjWG+eH+Ri2d4w/fB5tv4q/Q3j6M53GP63uRcIsIugeSC3sHpWzycmTlLxZjuYO5geo8PUtSItv21yOe3H0XXcp9nXzM5WjkEmUg5T2sjCOGnC61VJJLsWKFNyeiuatOJKCqYZWkFjrkHg5p0OU84sV3MdwIU1VBNCLxPlYQB3ri4Gw6ipFQxdn0/I1sRbI0WJIt4nscu7Fh4EUbH9tky2J6WWsfsXPniNfvszvUeHpxt03XdPsV/iezrpsUfHwY+0pP0bAOH91x6Vz9q5OWrOSiGjMsLGjnIP5lWuacZ89u2y5b9V72+wKPR4BFTSy1T7vdmc9oAJy38Ec7vzSGI1u+i0JrcO0aj9Tu/QrvGKNtM7kr5pBYvdzNJF8rfXxXOUv9xA7lauvDmMLi4R8HG50B6OiyjFbO17u0jbG0cGi5P+onUlXaNTNocTE0cju9L7I10RFYKZsYb8NF5xn3gt3bT+aKTyab2yrRw74aLzjPvBb22n80UnkU33plUreP2Z6XgW0i3AiBFyztBERCAiIgCIiAIiIAiIgCFEKAq7fF8Zw7z4/wAka2d43xwebb7StXfJ8Yw7z4+/GtreR8bb5tvtKv4fePozncY/re6IqFlEXQPJHWwXBRVaCaNh8F18xUjwvY6pgkD4qhjesBxuOgt51FMNwiWoPvbbDw3HK0en8lYGzmzLYSHOqHPeNbMeQ0ei+o8ao4ibjfX2Ozw+lGbXybdbkopmuDRnILucgWB9Fyva6j20+2FLhrb1D+272JlnSO/030HWbBVxWb7JM3vNK0N+m85vTlFgqMKNSeqR6iMHYulfhwVW4LvnheQ2rhdF9NhzsHjGjvVdWRh2IxVMYkge2Rh4OaQR/wCCsZ05w8SDiyMbR4NVVsgDnRxwNNxqXHynDTXqUHxOmp4iWxSSSEaZsrAy/Vz2Vk7QYC+pOlS9g8DTL9lioDi+z7YDZtTC5w4szZXfiFdw01s2ec4jRd21H3b/AEcNEIRdE4LPfD/ho/OM+8Fvba/zRSeRTfemWhQfCx+cZ94Lf22/mik8im+9Mqlbxr0Z6XgW0i3ERFyztBERCAiIgCIiAIiIAiIgCIiElX76W2koHng2fX+5h/Ara3jt/eWHmMQt6CVtb5sNM2Gl7Rcwva/xNPauPouCtLFJuzsLo6sauawRydTrBr/+TftV2jLwv1RS4pBzwzt0IuiLYp6cEF8jxHE3u5HcB1DwndAXQbsrs8jTpSqSyxWrP3hmGPqn5IxfnJPcsHOTzAL9Y3tpDhjHU+GZXzHSWqtoCOIZ0216h1qNbR7ZGSM09EDDTd8eEs/XIRwb9H/8USAWrlOo7y27Hr+H8NVBZp6y/R6VM7pXufI4ue43c5xuSesrzWUVhK2iOsF0cAx2egl5SmeWO5xxY/qe3nXOWLKJRUlZkF24RtXTY5G2GoIp6sDtTezXH6JPG/gnVcLE8NfSyGOVtj08zh0g86q8acPXzqwdnduhLGKXFLvZwjqdDJF0Zz3w6+PSq3LdJ3jt+Tk8R4aq6zR3R6XWFu4nhzoCNQ9jhdkjdWPHSD+C0rLepJq6PI1KcqcsslqbuDR5qiEDnkZ7br22oPK7VU4He8g3+1r3n7Ct/YWk5SsYeZgLz7B9pWjsU33Q2gqaviyMvLTzXIMbLegEqpWl87+y/Z6XgkLUpSfUt5FgLK5p1giIhAREQBERAEREARFyf+oIRVmke7JLla9odYCQHwOkjoRJsk6yLCygPCupWzRPjkF2vaWOHU4WKqfYObsGrqcJrNGSOdyRPAnXKQeh7cp8YVvqC7ztkTWxCop7iphGZuXi9o1sPpAi4W6lJeF9SbKScXsyDbTSjDpnRS3LxqAO+aeBvzA/moXi2LyVRHKEBrb5Y26NbfoHOes6qy6cx7S0fJyZYsSgGhIsZAON+BynnHelVbX0UlPI6KZpY9hLS0i3D2jrXSozUtJbo04TBUqDbitWa6ysLKsF8IiIAiIgMJZZWCgO9s7tQ+kBikHK0zj20JPcnwoj3rvsKlJfG9ofA/PGeB4Paedr2964epVwrE3d7K5B7oVzuRpYu2Adpy1uFweLL8Bzmy0VMtP5vx3Obj8BDERvtIk1bVjCMJkldpUVIyRjnAINj6Bc+pdrdXs6aCgGcWlmPKvvxaLAMb6AL+NxUbwSB+0GIdlztLaKB1oYzweQdPHwufQFaq51WXTq9WbaVJUaaproZREVcyCLUxDEYqcNMrw3M4MaCdXOcbBrRxJW2hIREQgIiIAiLBQGVTO/KAsqaaVtwSxwzA2ILHAgg8x1XY2n3nz0UzonUOVw4GSXRw6W5W6j0qvNsNs5sUDBMyNgYSW5A6+osbknVXcNRlmUraG2EXuTzd9vL5TLT17rP7lk/AO6BJ0HmurUBuvkpWJsBvHfR5YKsl8Gga/Uvi8fhM+0LPEYX6of6JlDqi8liy86WpZKwPjcHMcLhzTcEL1XP2NJW+3mxUgl7PwwllS05nMbpn01c0cM1uI4FcxstNtLFyctqfEo2loNrB5HEW5xccOIVtKD7b7v2Vp5eldyFU3tg5vatkI1Ga2odpo4KxCr0fTZmxS7lH41hM1FMYqhhY8c3M4dLTzjrWkrU93mVQ7A2giMcrdI6qwDgeYk2t6R2p51EdrdjJ8OOb4Wndqydgu0jmzW7k/YuhTr30lv+zapEaRYus3VgyCIsIAv0xhcQGgkk2AGpJPAAdK6ez2ztRiEuSmjLul50YwdLnfgp42eg2eaRHlrMQtq425OE8LC3c/ePSFpqVlHRasxbPHZzYqGgiFbjJDWjWOn4uceIzAcT9H1rZi7J2mqBcGDD4z3I0zW5hbi77B41+MC2Uq8cm7KxN72w8Ws1aXDwWNPwbOOvEq3qKkZCxscTQxjRYNaLABUKlWzvu/wjW5JGKCiZTxtiiaGsYMrWjmAWwES6qGsKNbY7YwYZHd5zykdpEOJ6z0N61xNvt4zKIOhpcslRwJ4si8q3F30fWqQrauSeR0kzy97jcucbk/kOpW6GGctZbGcYdyW4HjE+K4zSvqHZrTBzWDuGNbc2aPRx519Ar5ZwLF5KKds0OXO29swuNRY6XCmtDvPxOeRscTIXvcbBrYnEn/lw61txOHk3eOyRlOJeSLm4E2pELTWOY6Y6kRtytbfvRqb26V0lz2agiIhAQoiA4202zkGIwmOdvkvGj2Hpafw4Kgdr9k58MlyyjNG4nJKL5XjoPgu6l9Lrl7Sin7FlNYGmANJfm/D6XQrFCvKDt07GcJNM+XUXpUlhe7kwQzMcocbuDb6XPTay9ZcPlZG2V0TxE7uZCxwY6/Q61l17rqbyzdyHZTnS2d+6NBBaeBkNrZOjTirgVJ7u94sdFE2mqYw2ME2lYNRm4528/jCuHDsRiqWCSCRsjD3zTf19BXIxMZZ22jRNO5trFkWVXMDj7R7N0+IR5KhgPgvGj2HpaR7OCriopa/AMwIFZh5vmYRfI3nzA9xpzi7T1K31hzbiy2QqOOj1RkpFHz7J0mLMM2DyCOS130cpsR05Drb7R4lAsQoZKaQxzsdG8cWuFj4x0jrCuzandqyV/L0Dux6gG4y6MJ6ratPi9Sj79qC09ibRUtxwbOG9sPpAjj03b6ldpV39Oq7dTapFWxsLiA0EuJsGgXJJ5gBxU9wnd+2CPsnGJBTw8RCD77J1G3DxC58S6cu0GG4M0jCmdk1Lv6z7uDA7UAGwuRoLD0rywvYeuxiUVGJvdGw8AfhC3oYzgwePVZzrNryr8kuRp1m101ZaiwWAwQ+CwASvHOXu7wa66361L9it2EdKRLW2lm7oNFzGw+nu3dZ0UzwLAYKGMR07A0c54ud1udxK6YVKdb6YKy/Jrc+xgNtwWURaDWFHN4XZHudMaRxbI1uY27osB7cN6Da/qUiUV2q26pKEOa94klt8Cztjr4R4NHjWdNNyVlcyitT50Lr6nW+t+m6LdFO+rnf2NE4lznPEbAXFrbk28Q6StIhdxMsG7g+FS1kzYaduZ7ubmA5y48wHSr/ANh9iosMjvo+dw7eX/2svwaoxuOrYTBLEGtbO12Zzu+kYe5Po4W8StBczFV5OWToaqkuhmyIipGoIiKQEREAKqbfcaoiMAHsQaktJ1k5uU6AObmVs2XlUQNkaWvaHNcLFpFwQeYrOnPJJOxlF2Z8v4FFA+bLVPcyNzXND26hjyO1Lvo342VrhzaiOCMVUb6eGjMdcW9tDkFsmQHuZTZ1jxHqXF253XOiLpsPBfHxdB37Onkz3zerj41CcCx2Sh5VnJskjlAZLBK05X5SbXA1aQSuhNKss0Ht0N2+xtVWzb5IzU0zCIJJuSp43kmaXraO+AsVy6OuqKKU8k+SCRpsQLtNxzOaePpBU7wbbqBmaqqW3nYBBT0sILWQRHunsc7TN1nXQKQwYdT4zTtnkp5HBrORiMkzGVEoBHKzPeLA5QPaodaUNJrQX7nAwTfBPHYVcTZR4bLMf6uB+xTjCt5lBUWvKYneDKLfaLhVBW7LmTEJKXDialreD7t4Wu7M7RuhuL864FXTOikdHIMr2OLHDQ2LTYjRZfx6VTw6DKmfU9HiEUwvFIx4+i5p9i2V8lxPLTdpLT0gkH1hdej2rrYfg6qUdWcuH23Wp4F/SzB0ux9OrRxjB4ayMx1EbZGnmI1HW08WnrCoeDeZiTP64d5UbD+C2272cRHPAfHCfwetf8OothkaLU2b2Do6B2eOPPJc2fJZzmAng3mb0X4qTqhzvcxDop/qnfrXjLvWxF3B8TfJhH4uKl4Wq3qHBl/LDnAC5Nh0nRfOVVvBxGTjUuHkhjfYFw63FZ5vhppH+U9xHqUrBS6sctn0hie1lHTfC1EYPghwc71BQ3GN8MDLilhfKfCdZjPxKpjkTlzZTlvbNY5b2va/TpwXRr8EkpmQSTi0U4ztcwh3ag9tw4OtzLbHC04vV3MsiR1sf3g11ZcOl5KM/wBOLtBb6Th2x9a8cK2Slk5OSpcKeB7gOUkIDyHG2ZrCbuGo1UkpNlaeGsFO732GsgDqSpcBmbJYOANtOPHTgsbWsocQmE81X2NIxohnp3Rue9roiQRDbSx9XOp5iXywVvuTfsdaeCPB88LKUyMnyxhrKh3ZUwZd3K9p3EXSAehRXb2CkZHByEUcNQbmSOGQyMDe9zOPfryxLbqfk+x6Z5bCy7I5XgdkmLma5/MOPDXh0Lb2H3dS15Es4MVPe9+D5epnQPpepYxjk+eb/wChabn63R4TUyVrZoe1ij0keQcrgeLB0k2HiV9rWw3D46aJsULAxjRYNH/3U9a2lTrVeZK5plK7CIi1GIREQBERAEREAUV2r2DpcRu5zeTm+VYAD/rHBw8alSFZRk4u6JTa2PnTaXd9WUN3ZDNEP6kQJt5TNS37QtHBNq6ikfEc3KMha+NsTycgbIAHtFuHBfTNlG8e2Hoq25lhDX/KR9o/024+lW44rMrVFc2Kp3Ku2S22p6WSKFlM2GFz2OmlMjuUzB18xLRqwadr0LlUsEFbjpbI9pglq3nMD2r2klzRfocbD0qUYzudeLmkna4eBKLH+4afYodiGw1fT6vp3kDXNGQ8ac/a6rdDlO7i7NozTTJk2ibVPxCOpoo6anp45OTlEXJuY5hsyz7DPmAv6QvPEd2bXR0PY9w55YKok3EYdEHl1u959OsKA4pjFW5ghqppiwf05S8DTqdxXTZt9WXdeRpa98T3sDQA7kg0NFxqAQ0A9KjlVF4WRZkhqN2Qe6tbSzOc6ncxrGuDffHGMPc0kWsdbBaGH7vDK9jXTlhNIKpw5Euc3UgsDQ67jp4+paM+3M7hMWgMklqY6rO0ntXRtDQ0DnFguuN5ZdWdkSQHWm7Hc1j8p1JJc0204lLYhE/Ma2GbBsqJZmsqJSIY2vLOxXsqHFxOjYXkGwA4891wKXC4jiEdO57+SdMyMvcwxSAOIFyx3ckE8CupHtJSNqOW7Hqc2VoDuzH8oCD4fO21hZc3aTaJ1bWdlFoYQWFrRrbk+5JPOdBcrZT5t3fsTqdfB9n4G426iqQXRZ3xNJJBuWh0ZNlu4ZSGkoZ5GwsNVR13JuL4weVjecoabjUXvb0FcTG9t5KoucYqeORzmuMzGWmzMsWkPvcHQL81OMYjiLQxzppm3DgGx2BI4EljRc9ZKxlGcvEyLMmW3+HRTUwZSuhhfTnl56TM1nbzMDi5hJFyLkW6yNFGcH2ipjh5pa+OWTk5RJDyZAIBHbNLj3I4+tedLu/xGpdmMDgSb55nAX6ze5Upwrc3IbGqna36MYLj/c7T7FiuXCOWUhddSJf9bVETTHSnkoASYmOtI+AEahkjhcXNz6VrYFspWYi68UTi0m7pn3ay51JzO7o+K6u3BN3dDSEOEXKPHfykv9TeA9SlbW2FhoOgLU8VGP8AjXuYOa6EA2T3X09JZ9SRUS8bFvvTT1NPHxlT9otwWUVSc5Sd2a22wiIsSAiIgCIiAIiIAiIgCIiAIiIAsLKIDynp2PFnsa4dDmg+1cmp2RoZe7pID/ttHssu2ilSaJuRZ+7zDj/2rB5JcPYV5/s3w7/0/wDzk/Upaiy5ku7JzMirN3eHD/tWHxl59pWzDsRh7O5pIfSwH2qQoo5ku5F2aFNg1PF8HBE3yY2D2BbzWgcBbxLKKLsXMLIRFBAREQBERAEREAREQBERAf/Z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3" name="Picture 16" descr="http://3.bp.blogspot.com/-yDOqyxOQmpQ/UaiyPxsDFGI/AAAAAAAAUQ4/wyJbd6oo630/s1600/9c92e998-1893-49e9-a2c0-d0c0619b3c81_media_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224" y="216274"/>
            <a:ext cx="2654913" cy="2561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Rectangle 27"/>
          <p:cNvSpPr>
            <a:spLocks noChangeArrowheads="1"/>
          </p:cNvSpPr>
          <p:nvPr/>
        </p:nvSpPr>
        <p:spPr bwMode="auto">
          <a:xfrm>
            <a:off x="1445511" y="31307598"/>
            <a:ext cx="4027297" cy="696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0284" tIns="40142" rIns="80284" bIns="40142" anchor="ctr">
            <a:spAutoFit/>
          </a:bodyPr>
          <a:lstStyle/>
          <a:p>
            <a:pPr algn="l" defTabSz="803275"/>
            <a:r>
              <a:rPr lang="pt-BR" sz="4000" b="1" dirty="0" smtClean="0"/>
              <a:t>METODOLOGIA</a:t>
            </a:r>
            <a:endParaRPr lang="pt-BR" sz="4000" b="1" dirty="0"/>
          </a:p>
        </p:txBody>
      </p:sp>
      <p:cxnSp>
        <p:nvCxnSpPr>
          <p:cNvPr id="61" name="Conector reto 60"/>
          <p:cNvCxnSpPr/>
          <p:nvPr/>
        </p:nvCxnSpPr>
        <p:spPr bwMode="auto">
          <a:xfrm>
            <a:off x="1234444" y="32010043"/>
            <a:ext cx="12453938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2" name="Text Box 26"/>
          <p:cNvSpPr txBox="1">
            <a:spLocks noChangeArrowheads="1"/>
          </p:cNvSpPr>
          <p:nvPr/>
        </p:nvSpPr>
        <p:spPr bwMode="auto">
          <a:xfrm>
            <a:off x="1234444" y="32306350"/>
            <a:ext cx="12564227" cy="3049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284" tIns="40142" rIns="80284" bIns="40142"/>
          <a:lstStyle>
            <a:lvl1pPr indent="5334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just" eaLnBrk="1" hangingPunct="1">
              <a:defRPr/>
            </a:pPr>
            <a:r>
              <a:rPr lang="pt-BR" sz="3200" dirty="0"/>
              <a:t>Para o desenvolvimento deste resumo foram realizadas pesquisas bibliográficas nos bancos de dados eletrônicos do PERIÓDICOS CAPES, SCIELO e BIREME, e selecionados artigos científicos nacionais/internacionais publicados entre 2009 a 2014. A pesquisa buscou favorecer a reflexão e a familiarização sobre o tema em pauta, com a finalidade de conhecer e compreender as contribuições teóricas mais relevantes existentes na literatura. </a:t>
            </a:r>
            <a:endParaRPr lang="pt-BR" sz="3200" dirty="0" smtClean="0">
              <a:latin typeface="+mj-lt"/>
            </a:endParaRPr>
          </a:p>
        </p:txBody>
      </p:sp>
      <p:cxnSp>
        <p:nvCxnSpPr>
          <p:cNvPr id="64" name="Conector reto 63"/>
          <p:cNvCxnSpPr/>
          <p:nvPr/>
        </p:nvCxnSpPr>
        <p:spPr bwMode="auto">
          <a:xfrm>
            <a:off x="15086462" y="22322730"/>
            <a:ext cx="12453938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4" name="Rectangle 27"/>
          <p:cNvSpPr>
            <a:spLocks noChangeArrowheads="1"/>
          </p:cNvSpPr>
          <p:nvPr/>
        </p:nvSpPr>
        <p:spPr bwMode="auto">
          <a:xfrm>
            <a:off x="15178188" y="10266801"/>
            <a:ext cx="3758442" cy="1312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0284" tIns="40142" rIns="80284" bIns="40142" anchor="ctr">
            <a:spAutoFit/>
          </a:bodyPr>
          <a:lstStyle/>
          <a:p>
            <a:pPr algn="l" defTabSz="803275"/>
            <a:r>
              <a:rPr lang="pt-BR" sz="4000" b="1" dirty="0" smtClean="0"/>
              <a:t>RESULTADOS</a:t>
            </a:r>
            <a:endParaRPr lang="pt-BR" sz="4000" b="1" dirty="0"/>
          </a:p>
          <a:p>
            <a:pPr algn="l" defTabSz="803275"/>
            <a:endParaRPr lang="pt-BR" sz="4000" b="1" dirty="0"/>
          </a:p>
        </p:txBody>
      </p:sp>
      <p:cxnSp>
        <p:nvCxnSpPr>
          <p:cNvPr id="45" name="Conector reto 44"/>
          <p:cNvCxnSpPr/>
          <p:nvPr/>
        </p:nvCxnSpPr>
        <p:spPr bwMode="auto">
          <a:xfrm>
            <a:off x="15002981" y="11008585"/>
            <a:ext cx="12453938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7" name="Conector reto 46"/>
          <p:cNvCxnSpPr/>
          <p:nvPr/>
        </p:nvCxnSpPr>
        <p:spPr bwMode="auto">
          <a:xfrm>
            <a:off x="15086462" y="28731442"/>
            <a:ext cx="12453938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9" name="Conector reto 48"/>
          <p:cNvCxnSpPr/>
          <p:nvPr/>
        </p:nvCxnSpPr>
        <p:spPr bwMode="auto">
          <a:xfrm>
            <a:off x="15155024" y="33988026"/>
            <a:ext cx="12453938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0" name="Text Box 26"/>
          <p:cNvSpPr txBox="1">
            <a:spLocks noChangeArrowheads="1"/>
          </p:cNvSpPr>
          <p:nvPr/>
        </p:nvSpPr>
        <p:spPr bwMode="auto">
          <a:xfrm>
            <a:off x="15155024" y="34126510"/>
            <a:ext cx="12475246" cy="1949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284" tIns="40142" rIns="80284" bIns="40142"/>
          <a:lstStyle>
            <a:lvl1pPr indent="5334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just" eaLnBrk="1" hangingPunct="1">
              <a:defRPr/>
            </a:pPr>
            <a:r>
              <a:rPr lang="pt-BR" sz="3600" dirty="0" smtClean="0">
                <a:latin typeface="+mj-lt"/>
              </a:rPr>
              <a:t>À professora </a:t>
            </a:r>
            <a:r>
              <a:rPr lang="pt-BR" sz="3600" dirty="0">
                <a:latin typeface="+mj-lt"/>
              </a:rPr>
              <a:t>Marília Ferreira Frazão Tavares de </a:t>
            </a:r>
            <a:r>
              <a:rPr lang="pt-BR" sz="3600" dirty="0" smtClean="0">
                <a:latin typeface="+mj-lt"/>
              </a:rPr>
              <a:t>Melo. </a:t>
            </a:r>
            <a:r>
              <a:rPr lang="pt-BR" sz="3600" dirty="0" smtClean="0">
                <a:latin typeface="+mj-lt"/>
              </a:rPr>
              <a:t>À </a:t>
            </a:r>
            <a:r>
              <a:rPr lang="pt-BR" sz="3600" dirty="0">
                <a:latin typeface="+mj-lt"/>
              </a:rPr>
              <a:t>UFCG e ao </a:t>
            </a:r>
            <a:r>
              <a:rPr lang="pt-BR" sz="3600" dirty="0" smtClean="0">
                <a:latin typeface="+mj-lt"/>
              </a:rPr>
              <a:t>CES. </a:t>
            </a:r>
            <a:r>
              <a:rPr lang="pt-BR" sz="3600" dirty="0">
                <a:latin typeface="+mj-lt"/>
              </a:rPr>
              <a:t>À Unidade Acadêmica de Saúde (Curso de Bacharelado em </a:t>
            </a:r>
            <a:r>
              <a:rPr lang="pt-BR" sz="3600" dirty="0" smtClean="0">
                <a:latin typeface="+mj-lt"/>
              </a:rPr>
              <a:t>Nutrição</a:t>
            </a:r>
            <a:r>
              <a:rPr lang="pt-BR" sz="3600" dirty="0" smtClean="0">
                <a:latin typeface="+mj-lt"/>
              </a:rPr>
              <a:t>), </a:t>
            </a:r>
            <a:r>
              <a:rPr lang="pt-BR" sz="3600" dirty="0">
                <a:latin typeface="+mj-lt"/>
              </a:rPr>
              <a:t>por todo apoio e contribuição.</a:t>
            </a:r>
          </a:p>
          <a:p>
            <a:pPr algn="just" eaLnBrk="1" hangingPunct="1">
              <a:defRPr/>
            </a:pPr>
            <a:endParaRPr lang="pt-BR" sz="3600" dirty="0" smtClean="0">
              <a:latin typeface="+mj-lt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2592488" y="8558419"/>
            <a:ext cx="24122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aseline="30000" dirty="0"/>
              <a:t>1</a:t>
            </a:r>
            <a:r>
              <a:rPr lang="pt-BR" sz="2400" dirty="0"/>
              <a:t> Universidade Federal de Campina Grande/Centro de Educação e Saúde, Unidade Acadêmica de Saúde, Olho D’água da Bica, s/n, Cuité, PB, 58175-000. </a:t>
            </a:r>
            <a:r>
              <a:rPr lang="pt-BR" sz="2400" u="sng" dirty="0">
                <a:hlinkClick r:id="rId4"/>
              </a:rPr>
              <a:t>vera.lucia.ufcg@gmail.com</a:t>
            </a:r>
            <a:endParaRPr lang="pt-BR" sz="2400" dirty="0">
              <a:effectLst/>
            </a:endParaRPr>
          </a:p>
        </p:txBody>
      </p:sp>
      <p:pic>
        <p:nvPicPr>
          <p:cNvPr id="6" name="Picture 2" descr="C:\Users\Carina\Documents\CARINA-BACKUP 20.09.14\CARINA-UFCG\SNCT 2014\Logotipo SNCT 2014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2034" y="216274"/>
            <a:ext cx="2595075" cy="2666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 Box 26"/>
          <p:cNvSpPr txBox="1">
            <a:spLocks noChangeArrowheads="1"/>
          </p:cNvSpPr>
          <p:nvPr/>
        </p:nvSpPr>
        <p:spPr bwMode="auto">
          <a:xfrm>
            <a:off x="15066043" y="11527739"/>
            <a:ext cx="12564227" cy="5610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284" tIns="40142" rIns="80284" bIns="40142"/>
          <a:lstStyle>
            <a:lvl1pPr indent="5334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1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just" eaLnBrk="1" hangingPunct="1">
              <a:defRPr/>
            </a:pPr>
            <a:r>
              <a:rPr lang="pt-BR" sz="3600" dirty="0"/>
              <a:t>As análises das informações mostram que os distúrbios nutricionais e de autoimagem na adolescência são decorrentes de diversos fatores, dentre eles, a vulnerabilidade devido às mudanças fisiológicas e psicológicas. A obesidade, que reflete um ganho excessivo de peso ponderal; a anorexia, caracterizada pela restrição alimentar auto imposta; a bulimia, definida por episódios de grande ingestão alimentar e seguida por desencargo de consciência, levando a indução do vômito; e vigorexia, um problema comumente ocorrido descrito como obsessão por definição muscular e treinamento excessivo em academias. Tendo em vista as implicações destes distúrbios, neste grupo altamente vulnerável, faz-se necessário o acompanhamento do profissional de nutrição a fim </a:t>
            </a:r>
            <a:r>
              <a:rPr lang="pt-BR" sz="3600" dirty="0" smtClean="0"/>
              <a:t>de fornecer orientações nutricionais adequadas para atender as necessidades </a:t>
            </a:r>
            <a:r>
              <a:rPr lang="pt-BR" sz="3600" dirty="0"/>
              <a:t>específicas dos mesmos</a:t>
            </a:r>
            <a:endParaRPr lang="pt-BR" sz="3600" dirty="0" smtClean="0">
              <a:latin typeface="+mj-lt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511" y="27346069"/>
            <a:ext cx="4027297" cy="3938590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8" y="20450522"/>
            <a:ext cx="12136891" cy="6333905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8832" y="27331855"/>
            <a:ext cx="4248472" cy="3973786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141" y="27331855"/>
            <a:ext cx="3350092" cy="39737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39735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39735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4284</TotalTime>
  <Words>703</Words>
  <Application>Microsoft Office PowerPoint</Application>
  <PresentationFormat>Personalizar</PresentationFormat>
  <Paragraphs>26</Paragraphs>
  <Slides>1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0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Verdana</vt:lpstr>
      <vt:lpstr>Design padrão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MARIA ELITA MARTINS DUARTE</dc:creator>
  <cp:lastModifiedBy>KLAUS</cp:lastModifiedBy>
  <cp:revision>237</cp:revision>
  <dcterms:created xsi:type="dcterms:W3CDTF">2005-09-27T12:17:06Z</dcterms:created>
  <dcterms:modified xsi:type="dcterms:W3CDTF">2014-10-14T01:32:40Z</dcterms:modified>
</cp:coreProperties>
</file>